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9144000" cy="6858000" type="screen4x3"/>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3" Type="http://schemas.openxmlformats.org/officeDocument/2006/relationships/slide" Target="slides/slide13.xml"/>
<Relationship Id="rId14" Type="http://schemas.openxmlformats.org/officeDocument/2006/relationships/slide" Target="slides/slide14.xml"/>
<Relationship Id="rId15" Type="http://schemas.openxmlformats.org/officeDocument/2006/relationships/slide" Target="slides/slide15.xml"/>
<Relationship Id="rId16" Type="http://schemas.openxmlformats.org/officeDocument/2006/relationships/slide" Target="slides/slide16.xml"/>
<Relationship Id="rId17" Type="http://schemas.openxmlformats.org/officeDocument/2006/relationships/slide" Target="slides/slide17.xml"/>
<Relationship Id="rId18" Type="http://schemas.openxmlformats.org/officeDocument/2006/relationships/slide" Target="slides/slide18.xml"/>
<Relationship Id="rId19" Type="http://schemas.openxmlformats.org/officeDocument/2006/relationships/slide" Target="slides/slide19.xml"/>
<Relationship Id="rId20" Type="http://schemas.openxmlformats.org/officeDocument/2006/relationships/slide" Target="slides/slide20.xml"/>
<Relationship Id="rId21" Type="http://schemas.openxmlformats.org/officeDocument/2006/relationships/slide" Target="slides/slide21.xml"/>
  <Relationship Id="rId22" Type="http://schemas.openxmlformats.org/officeDocument/2006/relationships/theme" Target="theme/theme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BF8"/>
        </a:solidFill>
        <a:effectLst/>
      </p:bgPr>
    </p:bg>
    <p:spTree>
      <p:nvGrpSpPr>
        <p:cNvPr id="1" name=""/>
        <p:cNvGrpSpPr/>
        <p:nvPr/>
      </p:nvGrpSpPr>
      <p:grpSpPr>
        <a:xfrm>
          <a:off x="0" y="0"/>
          <a:ext cx="0" cy="0"/>
          <a:chOff x="0" y="0"/>
          <a:chExt cx="0" cy="0"/>
        </a:xfrm>
      </p:grpSpPr>
      <p:sp>
        <p:nvSpPr>
          <p:cNvPr id="2" name="Title"/>
          <p:cNvSpPr txBox="1"/>
          <p:nvPr/>
        </p:nvSpPr>
        <p:spPr>
          <a:xfrm>
            <a:off x="540000" y="420000"/>
            <a:ext cx="8050000" cy="760000"/>
          </a:xfrm>
          <a:prstGeom prst="rect">
            <a:avLst/>
          </a:prstGeom>
          <a:noFill/>
        </p:spPr>
        <p:txBody>
          <a:bodyPr wrap="square"/>
          <a:lstStyle/>
          <a:p>
            <a:r>
              <a:rPr lang="en-US" sz="3900" b="1">
                <a:solidFill>
                  <a:srgbClr val="0F172A"/>
                </a:solidFill>
              </a:rPr>
              <a:t>NutriAI: AI Nutrition and Meal Planner</a:t>
            </a:r>
          </a:p>
        </p:txBody>
      </p:sp>
      <p:sp>
        <p:nvSpPr>
          <p:cNvPr id="3" name="Body"/>
          <p:cNvSpPr txBox="1"/>
          <p:nvPr/>
        </p:nvSpPr>
        <p:spPr>
          <a:xfrm>
            <a:off x="760000" y="1420000"/>
            <a:ext cx="7900000" cy="4600000"/>
          </a:xfrm>
          <a:prstGeom prst="roundRect">
            <a:avLst/>
          </a:prstGeom>
          <a:solidFill>
            <a:srgbClr val="FFFFFF"/>
          </a:solidFill>
          <a:ln w="16000">
            <a:solidFill>
              <a:srgbClr val="CDEBDD"/>
            </a:solidFill>
          </a:ln>
        </p:spPr>
        <p:txBody>
          <a:bodyPr wrap="square" lIns="260000" tIns="220000" rIns="260000" bIns="220000"/>
          <a:lstStyle/>
        </p:txBody>
      </p:sp>
      <p:sp>
        <p:nvSpPr>
          <p:cNvPr id="4" name="Footer"/>
          <p:cNvSpPr txBox="1"/>
          <p:nvPr/>
        </p:nvSpPr>
        <p:spPr>
          <a:xfrm>
            <a:off x="650000" y="6400000"/>
            <a:ext cx="7900000" cy="300000"/>
          </a:xfrm>
          <a:prstGeom prst="rect">
            <a:avLst/>
          </a:prstGeom>
          <a:noFill/>
        </p:spPr>
        <p:txBody>
          <a:bodyPr/>
          <a:lstStyle/>
          <a:p>
            <a:r>
              <a:rPr lang="en-US" sz="1200">
                <a:solidFill>
                  <a:srgbClr val="10B981"/>
                </a:solidFill>
              </a:rPr>
              <a:t>NutriAI • AI Nutrition and Meal Planner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BF8"/>
        </a:solidFill>
        <a:effectLst/>
      </p:bgPr>
    </p:bg>
    <p:spTree>
      <p:nvGrpSpPr>
        <p:cNvPr id="1" name=""/>
        <p:cNvGrpSpPr/>
        <p:nvPr/>
      </p:nvGrpSpPr>
      <p:grpSpPr>
        <a:xfrm>
          <a:off x="0" y="0"/>
          <a:ext cx="0" cy="0"/>
          <a:chOff x="0" y="0"/>
          <a:chExt cx="0" cy="0"/>
        </a:xfrm>
      </p:grpSpPr>
      <p:sp>
        <p:nvSpPr>
          <p:cNvPr id="2" name="Title"/>
          <p:cNvSpPr txBox="1"/>
          <p:nvPr/>
        </p:nvSpPr>
        <p:spPr>
          <a:xfrm>
            <a:off x="540000" y="420000"/>
            <a:ext cx="8050000" cy="760000"/>
          </a:xfrm>
          <a:prstGeom prst="rect">
            <a:avLst/>
          </a:prstGeom>
          <a:noFill/>
        </p:spPr>
        <p:txBody>
          <a:bodyPr wrap="square"/>
          <a:lstStyle/>
          <a:p>
            <a:r>
              <a:rPr lang="en-US" sz="3900" b="1">
                <a:solidFill>
                  <a:srgbClr val="0F172A"/>
                </a:solidFill>
              </a:rPr>
              <a:t>Slide 1: Project Title</a:t>
            </a:r>
          </a:p>
        </p:txBody>
      </p:sp>
      <p:sp>
        <p:nvSpPr>
          <p:cNvPr id="3" name="Body"/>
          <p:cNvSpPr txBox="1"/>
          <p:nvPr/>
        </p:nvSpPr>
        <p:spPr>
          <a:xfrm>
            <a:off x="760000" y="1420000"/>
            <a:ext cx="7900000" cy="4600000"/>
          </a:xfrm>
          <a:prstGeom prst="roundRect">
            <a:avLst/>
          </a:prstGeom>
          <a:solidFill>
            <a:srgbClr val="FFFFFF"/>
          </a:solidFill>
          <a:ln w="16000">
            <a:solidFill>
              <a:srgbClr val="CDEBDD"/>
            </a:solidFill>
          </a:ln>
        </p:spPr>
        <p:txBody>
          <a:bodyPr wrap="square" lIns="260000" tIns="220000" rIns="260000" bIns="220000"/>
          <a:lstStyle/>
          <a:p>
            <a:pPr marL="220000" indent="-160000"/>
            <a:r>
              <a:rPr lang="en-US" sz="2350"/>
              <a:t>NutriAI</a:t>
            </a:r>
          </a:p>
          <a:p>
            <a:pPr marL="220000" indent="-160000">
              <a:buChar char="•"/>
            </a:pPr>
            <a:r>
              <a:rPr lang="en-US" sz="2350"/>
              <a:t>AI Nutrition and Meal Planner</a:t>
            </a:r>
          </a:p>
          <a:p>
            <a:pPr marL="220000" indent="-160000">
              <a:buChar char="•"/>
            </a:pPr>
            <a:r>
              <a:rPr lang="en-US" sz="2350"/>
              <a:t>Presented by: Your Name</a:t>
            </a:r>
          </a:p>
          <a:p>
            <a:pPr marL="220000" indent="-160000">
              <a:buChar char="•"/>
            </a:pPr>
            <a:r>
              <a:rPr lang="en-US" sz="2350"/>
              <a:t>Course: Your Course Name</a:t>
            </a:r>
          </a:p>
          <a:p>
            <a:pPr marL="220000" indent="-160000">
              <a:buChar char="•"/>
            </a:pPr>
            <a:r>
              <a:rPr lang="en-US" sz="2350"/>
              <a:t>Date: Presentation Date</a:t>
            </a:r>
          </a:p>
        </p:txBody>
      </p:sp>
      <p:sp>
        <p:nvSpPr>
          <p:cNvPr id="4" name="Footer"/>
          <p:cNvSpPr txBox="1"/>
          <p:nvPr/>
        </p:nvSpPr>
        <p:spPr>
          <a:xfrm>
            <a:off x="650000" y="6400000"/>
            <a:ext cx="7900000" cy="300000"/>
          </a:xfrm>
          <a:prstGeom prst="rect">
            <a:avLst/>
          </a:prstGeom>
          <a:noFill/>
        </p:spPr>
        <p:txBody>
          <a:bodyPr/>
          <a:lstStyle/>
          <a:p>
            <a:r>
              <a:rPr lang="en-US" sz="1200">
                <a:solidFill>
                  <a:srgbClr val="10B981"/>
                </a:solidFill>
              </a:rPr>
              <a:t>NutriAI • AI Nutrition and Meal Planner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BF8"/>
        </a:solidFill>
        <a:effectLst/>
      </p:bgPr>
    </p:bg>
    <p:spTree>
      <p:nvGrpSpPr>
        <p:cNvPr id="1" name=""/>
        <p:cNvGrpSpPr/>
        <p:nvPr/>
      </p:nvGrpSpPr>
      <p:grpSpPr>
        <a:xfrm>
          <a:off x="0" y="0"/>
          <a:ext cx="0" cy="0"/>
          <a:chOff x="0" y="0"/>
          <a:chExt cx="0" cy="0"/>
        </a:xfrm>
      </p:grpSpPr>
      <p:sp>
        <p:nvSpPr>
          <p:cNvPr id="2" name="Title"/>
          <p:cNvSpPr txBox="1"/>
          <p:nvPr/>
        </p:nvSpPr>
        <p:spPr>
          <a:xfrm>
            <a:off x="540000" y="420000"/>
            <a:ext cx="8050000" cy="760000"/>
          </a:xfrm>
          <a:prstGeom prst="rect">
            <a:avLst/>
          </a:prstGeom>
          <a:noFill/>
        </p:spPr>
        <p:txBody>
          <a:bodyPr wrap="square"/>
          <a:lstStyle/>
          <a:p>
            <a:r>
              <a:rPr lang="en-US" sz="3900" b="1">
                <a:solidFill>
                  <a:srgbClr val="0F172A"/>
                </a:solidFill>
              </a:rPr>
              <a:t>Slide 2: Problem Statement</a:t>
            </a:r>
          </a:p>
        </p:txBody>
      </p:sp>
      <p:sp>
        <p:nvSpPr>
          <p:cNvPr id="3" name="Body"/>
          <p:cNvSpPr txBox="1"/>
          <p:nvPr/>
        </p:nvSpPr>
        <p:spPr>
          <a:xfrm>
            <a:off x="760000" y="1420000"/>
            <a:ext cx="7900000" cy="4600000"/>
          </a:xfrm>
          <a:prstGeom prst="roundRect">
            <a:avLst/>
          </a:prstGeom>
          <a:solidFill>
            <a:srgbClr val="FFFFFF"/>
          </a:solidFill>
          <a:ln w="16000">
            <a:solidFill>
              <a:srgbClr val="CDEBDD"/>
            </a:solidFill>
          </a:ln>
        </p:spPr>
        <p:txBody>
          <a:bodyPr wrap="square" lIns="260000" tIns="220000" rIns="260000" bIns="220000"/>
          <a:lstStyle/>
          <a:p>
            <a:pPr marL="220000" indent="-160000">
              <a:buChar char="•"/>
            </a:pPr>
            <a:r>
              <a:rPr lang="en-US" sz="2350"/>
              <a:t>Many people want to eat healthier, but meal planning is difficult because they must consider:</a:t>
            </a:r>
          </a:p>
          <a:p>
            <a:pPr marL="220000" indent="-160000">
              <a:buChar char="•"/>
            </a:pPr>
            <a:r>
              <a:rPr lang="en-US" sz="2350"/>
              <a:t>Daily calorie needs</a:t>
            </a:r>
          </a:p>
          <a:p>
            <a:pPr marL="220000" indent="-160000">
              <a:buChar char="•"/>
            </a:pPr>
            <a:r>
              <a:rPr lang="en-US" sz="2350"/>
              <a:t>Protein, carbohydrate, and fat targets</a:t>
            </a:r>
          </a:p>
          <a:p>
            <a:pPr marL="220000" indent="-160000">
              <a:buChar char="•"/>
            </a:pPr>
            <a:r>
              <a:rPr lang="en-US" sz="2350"/>
              <a:t>Allergies and dietary restrictions</a:t>
            </a:r>
          </a:p>
          <a:p>
            <a:pPr marL="220000" indent="-160000">
              <a:buChar char="•"/>
            </a:pPr>
            <a:r>
              <a:rPr lang="en-US" sz="2350"/>
              <a:t>Food preferences</a:t>
            </a:r>
          </a:p>
          <a:p>
            <a:pPr marL="220000" indent="-160000">
              <a:buChar char="•"/>
            </a:pPr>
            <a:r>
              <a:rPr lang="en-US" sz="2350"/>
              <a:t>Budget and grocery planning</a:t>
            </a:r>
          </a:p>
          <a:p>
            <a:pPr marL="220000" indent="-160000">
              <a:buChar char="•"/>
            </a:pPr>
            <a:r>
              <a:rPr lang="en-US" sz="2350"/>
              <a:t>Actual food intake compared with the plan</a:t>
            </a:r>
          </a:p>
        </p:txBody>
      </p:sp>
      <p:sp>
        <p:nvSpPr>
          <p:cNvPr id="4" name="Footer"/>
          <p:cNvSpPr txBox="1"/>
          <p:nvPr/>
        </p:nvSpPr>
        <p:spPr>
          <a:xfrm>
            <a:off x="650000" y="6400000"/>
            <a:ext cx="7900000" cy="300000"/>
          </a:xfrm>
          <a:prstGeom prst="rect">
            <a:avLst/>
          </a:prstGeom>
          <a:noFill/>
        </p:spPr>
        <p:txBody>
          <a:bodyPr/>
          <a:lstStyle/>
          <a:p>
            <a:r>
              <a:rPr lang="en-US" sz="1200">
                <a:solidFill>
                  <a:srgbClr val="10B981"/>
                </a:solidFill>
              </a:rPr>
              <a:t>NutriAI • AI Nutrition and Meal Planner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BF8"/>
        </a:solidFill>
        <a:effectLst/>
      </p:bgPr>
    </p:bg>
    <p:spTree>
      <p:nvGrpSpPr>
        <p:cNvPr id="1" name=""/>
        <p:cNvGrpSpPr/>
        <p:nvPr/>
      </p:nvGrpSpPr>
      <p:grpSpPr>
        <a:xfrm>
          <a:off x="0" y="0"/>
          <a:ext cx="0" cy="0"/>
          <a:chOff x="0" y="0"/>
          <a:chExt cx="0" cy="0"/>
        </a:xfrm>
      </p:grpSpPr>
      <p:sp>
        <p:nvSpPr>
          <p:cNvPr id="2" name="Title"/>
          <p:cNvSpPr txBox="1"/>
          <p:nvPr/>
        </p:nvSpPr>
        <p:spPr>
          <a:xfrm>
            <a:off x="540000" y="420000"/>
            <a:ext cx="8050000" cy="760000"/>
          </a:xfrm>
          <a:prstGeom prst="rect">
            <a:avLst/>
          </a:prstGeom>
          <a:noFill/>
        </p:spPr>
        <p:txBody>
          <a:bodyPr wrap="square"/>
          <a:lstStyle/>
          <a:p>
            <a:r>
              <a:rPr lang="en-US" sz="3900" b="1">
                <a:solidFill>
                  <a:srgbClr val="0F172A"/>
                </a:solidFill>
              </a:rPr>
              <a:t>Slide 3: Project Goal</a:t>
            </a:r>
          </a:p>
        </p:txBody>
      </p:sp>
      <p:sp>
        <p:nvSpPr>
          <p:cNvPr id="3" name="Body"/>
          <p:cNvSpPr txBox="1"/>
          <p:nvPr/>
        </p:nvSpPr>
        <p:spPr>
          <a:xfrm>
            <a:off x="760000" y="1420000"/>
            <a:ext cx="7900000" cy="4600000"/>
          </a:xfrm>
          <a:prstGeom prst="roundRect">
            <a:avLst/>
          </a:prstGeom>
          <a:solidFill>
            <a:srgbClr val="FFFFFF"/>
          </a:solidFill>
          <a:ln w="16000">
            <a:solidFill>
              <a:srgbClr val="CDEBDD"/>
            </a:solidFill>
          </a:ln>
        </p:spPr>
        <p:txBody>
          <a:bodyPr wrap="square" lIns="260000" tIns="220000" rIns="260000" bIns="220000"/>
          <a:lstStyle/>
          <a:p>
            <a:pPr marL="220000" indent="-160000">
              <a:buChar char="•"/>
            </a:pPr>
            <a:r>
              <a:rPr lang="en-US" sz="2350"/>
              <a:t>The goal of NutriAI is to build an intelligent meal-planning system that recommends meals based on:</a:t>
            </a:r>
          </a:p>
          <a:p>
            <a:pPr marL="220000" indent="-160000">
              <a:buChar char="•"/>
            </a:pPr>
            <a:r>
              <a:rPr lang="en-US" sz="2350"/>
              <a:t>User health profile</a:t>
            </a:r>
          </a:p>
          <a:p>
            <a:pPr marL="220000" indent="-160000">
              <a:buChar char="•"/>
            </a:pPr>
            <a:r>
              <a:rPr lang="en-US" sz="2350"/>
              <a:t>Body goal</a:t>
            </a:r>
          </a:p>
          <a:p>
            <a:pPr marL="220000" indent="-160000">
              <a:buChar char="•"/>
            </a:pPr>
            <a:r>
              <a:rPr lang="en-US" sz="2350"/>
              <a:t>Food allergies</a:t>
            </a:r>
          </a:p>
          <a:p>
            <a:pPr marL="220000" indent="-160000">
              <a:buChar char="•"/>
            </a:pPr>
            <a:r>
              <a:rPr lang="en-US" sz="2350"/>
              <a:t>Dietary preference</a:t>
            </a:r>
          </a:p>
          <a:p>
            <a:pPr marL="220000" indent="-160000">
              <a:buChar char="•"/>
            </a:pPr>
            <a:r>
              <a:rPr lang="en-US" sz="2350"/>
              <a:t>Nutrition targets</a:t>
            </a:r>
          </a:p>
          <a:p>
            <a:pPr marL="220000" indent="-160000">
              <a:buChar char="•"/>
            </a:pPr>
            <a:r>
              <a:rPr lang="en-US" sz="2350"/>
              <a:t>Available foods</a:t>
            </a:r>
          </a:p>
          <a:p>
            <a:pPr marL="220000" indent="-160000">
              <a:buChar char="•"/>
            </a:pPr>
            <a:r>
              <a:rPr lang="en-US" sz="2350"/>
              <a:t>Grocery budget</a:t>
            </a:r>
          </a:p>
        </p:txBody>
      </p:sp>
      <p:sp>
        <p:nvSpPr>
          <p:cNvPr id="4" name="Footer"/>
          <p:cNvSpPr txBox="1"/>
          <p:nvPr/>
        </p:nvSpPr>
        <p:spPr>
          <a:xfrm>
            <a:off x="650000" y="6400000"/>
            <a:ext cx="7900000" cy="300000"/>
          </a:xfrm>
          <a:prstGeom prst="rect">
            <a:avLst/>
          </a:prstGeom>
          <a:noFill/>
        </p:spPr>
        <p:txBody>
          <a:bodyPr/>
          <a:lstStyle/>
          <a:p>
            <a:r>
              <a:rPr lang="en-US" sz="1200">
                <a:solidFill>
                  <a:srgbClr val="10B981"/>
                </a:solidFill>
              </a:rPr>
              <a:t>NutriAI • AI Nutrition and Meal Planner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BF8"/>
        </a:solidFill>
        <a:effectLst/>
      </p:bgPr>
    </p:bg>
    <p:spTree>
      <p:nvGrpSpPr>
        <p:cNvPr id="1" name=""/>
        <p:cNvGrpSpPr/>
        <p:nvPr/>
      </p:nvGrpSpPr>
      <p:grpSpPr>
        <a:xfrm>
          <a:off x="0" y="0"/>
          <a:ext cx="0" cy="0"/>
          <a:chOff x="0" y="0"/>
          <a:chExt cx="0" cy="0"/>
        </a:xfrm>
      </p:grpSpPr>
      <p:sp>
        <p:nvSpPr>
          <p:cNvPr id="2" name="Title"/>
          <p:cNvSpPr txBox="1"/>
          <p:nvPr/>
        </p:nvSpPr>
        <p:spPr>
          <a:xfrm>
            <a:off x="540000" y="420000"/>
            <a:ext cx="8050000" cy="760000"/>
          </a:xfrm>
          <a:prstGeom prst="rect">
            <a:avLst/>
          </a:prstGeom>
          <a:noFill/>
        </p:spPr>
        <p:txBody>
          <a:bodyPr wrap="square"/>
          <a:lstStyle/>
          <a:p>
            <a:r>
              <a:rPr lang="en-US" sz="3900" b="1">
                <a:solidFill>
                  <a:srgbClr val="0F172A"/>
                </a:solidFill>
              </a:rPr>
              <a:t>Slide 4: Target Users</a:t>
            </a:r>
          </a:p>
        </p:txBody>
      </p:sp>
      <p:sp>
        <p:nvSpPr>
          <p:cNvPr id="3" name="Body"/>
          <p:cNvSpPr txBox="1"/>
          <p:nvPr/>
        </p:nvSpPr>
        <p:spPr>
          <a:xfrm>
            <a:off x="760000" y="1420000"/>
            <a:ext cx="7900000" cy="4600000"/>
          </a:xfrm>
          <a:prstGeom prst="roundRect">
            <a:avLst/>
          </a:prstGeom>
          <a:solidFill>
            <a:srgbClr val="FFFFFF"/>
          </a:solidFill>
          <a:ln w="16000">
            <a:solidFill>
              <a:srgbClr val="CDEBDD"/>
            </a:solidFill>
          </a:ln>
        </p:spPr>
        <p:txBody>
          <a:bodyPr wrap="square" lIns="260000" tIns="220000" rIns="260000" bIns="220000"/>
          <a:lstStyle/>
          <a:p>
            <a:pPr marL="220000" indent="-160000"/>
            <a:r>
              <a:rPr lang="en-US" sz="2350"/>
              <a:t>NutriAI is designed for:</a:t>
            </a:r>
          </a:p>
          <a:p>
            <a:pPr marL="220000" indent="-160000">
              <a:buChar char="•"/>
            </a:pPr>
            <a:r>
              <a:rPr lang="en-US" sz="2350"/>
              <a:t>Students and working adults</a:t>
            </a:r>
          </a:p>
          <a:p>
            <a:pPr marL="220000" indent="-160000">
              <a:buChar char="•"/>
            </a:pPr>
            <a:r>
              <a:rPr lang="en-US" sz="2350"/>
              <a:t>Users who want to lose, gain, or maintain weight</a:t>
            </a:r>
          </a:p>
          <a:p>
            <a:pPr marL="220000" indent="-160000">
              <a:buChar char="•"/>
            </a:pPr>
            <a:r>
              <a:rPr lang="en-US" sz="2350"/>
              <a:t>Users who want to track calories and macronutrients</a:t>
            </a:r>
          </a:p>
          <a:p>
            <a:pPr marL="220000" indent="-160000">
              <a:buChar char="•"/>
            </a:pPr>
            <a:r>
              <a:rPr lang="en-US" sz="2350"/>
              <a:t>Users with allergies or food restrictions</a:t>
            </a:r>
          </a:p>
          <a:p>
            <a:pPr marL="220000" indent="-160000">
              <a:buChar char="•"/>
            </a:pPr>
            <a:r>
              <a:rPr lang="en-US" sz="2350"/>
              <a:t>Cambodian/local-food-focused users</a:t>
            </a:r>
          </a:p>
        </p:txBody>
      </p:sp>
      <p:sp>
        <p:nvSpPr>
          <p:cNvPr id="4" name="Footer"/>
          <p:cNvSpPr txBox="1"/>
          <p:nvPr/>
        </p:nvSpPr>
        <p:spPr>
          <a:xfrm>
            <a:off x="650000" y="6400000"/>
            <a:ext cx="7900000" cy="300000"/>
          </a:xfrm>
          <a:prstGeom prst="rect">
            <a:avLst/>
          </a:prstGeom>
          <a:noFill/>
        </p:spPr>
        <p:txBody>
          <a:bodyPr/>
          <a:lstStyle/>
          <a:p>
            <a:r>
              <a:rPr lang="en-US" sz="1200">
                <a:solidFill>
                  <a:srgbClr val="10B981"/>
                </a:solidFill>
              </a:rPr>
              <a:t>NutriAI • AI Nutrition and Meal Planner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BF8"/>
        </a:solidFill>
        <a:effectLst/>
      </p:bgPr>
    </p:bg>
    <p:spTree>
      <p:nvGrpSpPr>
        <p:cNvPr id="1" name=""/>
        <p:cNvGrpSpPr/>
        <p:nvPr/>
      </p:nvGrpSpPr>
      <p:grpSpPr>
        <a:xfrm>
          <a:off x="0" y="0"/>
          <a:ext cx="0" cy="0"/>
          <a:chOff x="0" y="0"/>
          <a:chExt cx="0" cy="0"/>
        </a:xfrm>
      </p:grpSpPr>
      <p:sp>
        <p:nvSpPr>
          <p:cNvPr id="2" name="Title"/>
          <p:cNvSpPr txBox="1"/>
          <p:nvPr/>
        </p:nvSpPr>
        <p:spPr>
          <a:xfrm>
            <a:off x="540000" y="420000"/>
            <a:ext cx="8050000" cy="760000"/>
          </a:xfrm>
          <a:prstGeom prst="rect">
            <a:avLst/>
          </a:prstGeom>
          <a:noFill/>
        </p:spPr>
        <p:txBody>
          <a:bodyPr wrap="square"/>
          <a:lstStyle/>
          <a:p>
            <a:r>
              <a:rPr lang="en-US" sz="3900" b="1">
                <a:solidFill>
                  <a:srgbClr val="0F172A"/>
                </a:solidFill>
              </a:rPr>
              <a:t>Slide 5: Main Features</a:t>
            </a:r>
          </a:p>
        </p:txBody>
      </p:sp>
      <p:sp>
        <p:nvSpPr>
          <p:cNvPr id="3" name="Body"/>
          <p:cNvSpPr txBox="1"/>
          <p:nvPr/>
        </p:nvSpPr>
        <p:spPr>
          <a:xfrm>
            <a:off x="760000" y="1420000"/>
            <a:ext cx="7900000" cy="4600000"/>
          </a:xfrm>
          <a:prstGeom prst="roundRect">
            <a:avLst/>
          </a:prstGeom>
          <a:solidFill>
            <a:srgbClr val="FFFFFF"/>
          </a:solidFill>
          <a:ln w="16000">
            <a:solidFill>
              <a:srgbClr val="CDEBDD"/>
            </a:solidFill>
          </a:ln>
        </p:spPr>
        <p:txBody>
          <a:bodyPr wrap="square" lIns="260000" tIns="220000" rIns="260000" bIns="220000"/>
          <a:lstStyle/>
          <a:p>
            <a:pPr marL="220000" indent="-160000"/>
            <a:r>
              <a:rPr lang="en-US" sz="2350"/>
              <a:t>NutriAI supports:</a:t>
            </a:r>
          </a:p>
          <a:p>
            <a:pPr marL="220000" indent="-160000">
              <a:buChar char="•"/>
            </a:pPr>
            <a:r>
              <a:rPr lang="en-US" sz="2350"/>
              <a:t>Register, login, logout, and password reset</a:t>
            </a:r>
          </a:p>
          <a:p>
            <a:pPr marL="220000" indent="-160000">
              <a:buChar char="•"/>
            </a:pPr>
            <a:r>
              <a:rPr lang="en-US" sz="2350"/>
              <a:t>Health profile management</a:t>
            </a:r>
          </a:p>
          <a:p>
            <a:pPr marL="220000" indent="-160000">
              <a:buChar char="•"/>
            </a:pPr>
            <a:r>
              <a:rPr lang="en-US" sz="2350"/>
              <a:t>BMI, BMR, and calorie target calculation</a:t>
            </a:r>
          </a:p>
          <a:p>
            <a:pPr marL="220000" indent="-160000">
              <a:buChar char="•"/>
            </a:pPr>
            <a:r>
              <a:rPr lang="en-US" sz="2350"/>
              <a:t>Food database with search and favorite foods</a:t>
            </a:r>
          </a:p>
          <a:p>
            <a:pPr marL="220000" indent="-160000">
              <a:buChar char="•"/>
            </a:pPr>
            <a:r>
              <a:rPr lang="en-US" sz="2350"/>
              <a:t>Allergy management</a:t>
            </a:r>
          </a:p>
          <a:p>
            <a:pPr marL="220000" indent="-160000">
              <a:buChar char="•"/>
            </a:pPr>
            <a:r>
              <a:rPr lang="en-US" sz="2350"/>
              <a:t>Daily and weekly meal planning</a:t>
            </a:r>
          </a:p>
          <a:p>
            <a:pPr marL="220000" indent="-160000">
              <a:buChar char="•"/>
            </a:pPr>
            <a:r>
              <a:rPr lang="en-US" sz="2350"/>
              <a:t>Grocery list generation</a:t>
            </a:r>
          </a:p>
          <a:p>
            <a:pPr marL="220000" indent="-160000">
              <a:buChar char="•"/>
            </a:pPr>
            <a:r>
              <a:rPr lang="en-US" sz="2350"/>
              <a:t>Food, water, and weight tracking</a:t>
            </a:r>
          </a:p>
        </p:txBody>
      </p:sp>
      <p:sp>
        <p:nvSpPr>
          <p:cNvPr id="4" name="Footer"/>
          <p:cNvSpPr txBox="1"/>
          <p:nvPr/>
        </p:nvSpPr>
        <p:spPr>
          <a:xfrm>
            <a:off x="650000" y="6400000"/>
            <a:ext cx="7900000" cy="300000"/>
          </a:xfrm>
          <a:prstGeom prst="rect">
            <a:avLst/>
          </a:prstGeom>
          <a:noFill/>
        </p:spPr>
        <p:txBody>
          <a:bodyPr/>
          <a:lstStyle/>
          <a:p>
            <a:r>
              <a:rPr lang="en-US" sz="1200">
                <a:solidFill>
                  <a:srgbClr val="10B981"/>
                </a:solidFill>
              </a:rPr>
              <a:t>NutriAI • AI Nutrition and Meal Planner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BF8"/>
        </a:solidFill>
        <a:effectLst/>
      </p:bgPr>
    </p:bg>
    <p:spTree>
      <p:nvGrpSpPr>
        <p:cNvPr id="1" name=""/>
        <p:cNvGrpSpPr/>
        <p:nvPr/>
      </p:nvGrpSpPr>
      <p:grpSpPr>
        <a:xfrm>
          <a:off x="0" y="0"/>
          <a:ext cx="0" cy="0"/>
          <a:chOff x="0" y="0"/>
          <a:chExt cx="0" cy="0"/>
        </a:xfrm>
      </p:grpSpPr>
      <p:sp>
        <p:nvSpPr>
          <p:cNvPr id="2" name="Title"/>
          <p:cNvSpPr txBox="1"/>
          <p:nvPr/>
        </p:nvSpPr>
        <p:spPr>
          <a:xfrm>
            <a:off x="540000" y="420000"/>
            <a:ext cx="8050000" cy="760000"/>
          </a:xfrm>
          <a:prstGeom prst="rect">
            <a:avLst/>
          </a:prstGeom>
          <a:noFill/>
        </p:spPr>
        <p:txBody>
          <a:bodyPr wrap="square"/>
          <a:lstStyle/>
          <a:p>
            <a:r>
              <a:rPr lang="en-US" sz="3900" b="1">
                <a:solidFill>
                  <a:srgbClr val="0F172A"/>
                </a:solidFill>
              </a:rPr>
              <a:t>Slide 6: User Journey</a:t>
            </a:r>
          </a:p>
        </p:txBody>
      </p:sp>
      <p:sp>
        <p:nvSpPr>
          <p:cNvPr id="3" name="Body"/>
          <p:cNvSpPr txBox="1"/>
          <p:nvPr/>
        </p:nvSpPr>
        <p:spPr>
          <a:xfrm>
            <a:off x="760000" y="1420000"/>
            <a:ext cx="7900000" cy="4600000"/>
          </a:xfrm>
          <a:prstGeom prst="roundRect">
            <a:avLst/>
          </a:prstGeom>
          <a:solidFill>
            <a:srgbClr val="FFFFFF"/>
          </a:solidFill>
          <a:ln w="16000">
            <a:solidFill>
              <a:srgbClr val="CDEBDD"/>
            </a:solidFill>
          </a:ln>
        </p:spPr>
        <p:txBody>
          <a:bodyPr wrap="square" lIns="260000" tIns="220000" rIns="260000" bIns="220000"/>
          <a:lstStyle/>
          <a:p>
            <a:pPr marL="220000" indent="-160000"/>
            <a:r>
              <a:rPr lang="en-US" sz="2350"/>
              <a:t>Create account</a:t>
            </a:r>
          </a:p>
          <a:p>
            <a:pPr marL="220000" indent="-160000">
              <a:buChar char="•"/>
            </a:pPr>
            <a:r>
              <a:rPr lang="en-US" sz="2350"/>
              <a:t>↓</a:t>
            </a:r>
          </a:p>
          <a:p>
            <a:pPr marL="220000" indent="-160000">
              <a:buChar char="•"/>
            </a:pPr>
            <a:r>
              <a:rPr lang="en-US" sz="2350"/>
              <a:t>Complete health profile</a:t>
            </a:r>
          </a:p>
          <a:p>
            <a:pPr marL="220000" indent="-160000">
              <a:buChar char="•"/>
            </a:pPr>
            <a:r>
              <a:rPr lang="en-US" sz="2350"/>
              <a:t>↓</a:t>
            </a:r>
          </a:p>
          <a:p>
            <a:pPr marL="220000" indent="-160000">
              <a:buChar char="•"/>
            </a:pPr>
            <a:r>
              <a:rPr lang="en-US" sz="2350"/>
              <a:t>Add allergies and preferences</a:t>
            </a:r>
          </a:p>
          <a:p>
            <a:pPr marL="220000" indent="-160000">
              <a:buChar char="•"/>
            </a:pPr>
            <a:r>
              <a:rPr lang="en-US" sz="2350"/>
              <a:t>↓</a:t>
            </a:r>
          </a:p>
          <a:p>
            <a:pPr marL="220000" indent="-160000">
              <a:buChar char="•"/>
            </a:pPr>
            <a:r>
              <a:rPr lang="en-US" sz="2350"/>
              <a:t>Generate meal plan</a:t>
            </a:r>
          </a:p>
          <a:p>
            <a:pPr marL="220000" indent="-160000">
              <a:buChar char="•"/>
            </a:pPr>
            <a:r>
              <a:rPr lang="en-US" sz="2350"/>
              <a:t>↓</a:t>
            </a:r>
          </a:p>
          <a:p>
            <a:pPr marL="220000" indent="-160000">
              <a:buChar char="•"/>
            </a:pPr>
            <a:r>
              <a:rPr lang="en-US" sz="2350"/>
              <a:t>Export grocery list</a:t>
            </a:r>
          </a:p>
        </p:txBody>
      </p:sp>
      <p:sp>
        <p:nvSpPr>
          <p:cNvPr id="4" name="Footer"/>
          <p:cNvSpPr txBox="1"/>
          <p:nvPr/>
        </p:nvSpPr>
        <p:spPr>
          <a:xfrm>
            <a:off x="650000" y="6400000"/>
            <a:ext cx="7900000" cy="300000"/>
          </a:xfrm>
          <a:prstGeom prst="rect">
            <a:avLst/>
          </a:prstGeom>
          <a:noFill/>
        </p:spPr>
        <p:txBody>
          <a:bodyPr/>
          <a:lstStyle/>
          <a:p>
            <a:r>
              <a:rPr lang="en-US" sz="1200">
                <a:solidFill>
                  <a:srgbClr val="10B981"/>
                </a:solidFill>
              </a:rPr>
              <a:t>NutriAI • AI Nutrition and Meal Planner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BF8"/>
        </a:solidFill>
        <a:effectLst/>
      </p:bgPr>
    </p:bg>
    <p:spTree>
      <p:nvGrpSpPr>
        <p:cNvPr id="1" name=""/>
        <p:cNvGrpSpPr/>
        <p:nvPr/>
      </p:nvGrpSpPr>
      <p:grpSpPr>
        <a:xfrm>
          <a:off x="0" y="0"/>
          <a:ext cx="0" cy="0"/>
          <a:chOff x="0" y="0"/>
          <a:chExt cx="0" cy="0"/>
        </a:xfrm>
      </p:grpSpPr>
      <p:sp>
        <p:nvSpPr>
          <p:cNvPr id="2" name="Title"/>
          <p:cNvSpPr txBox="1"/>
          <p:nvPr/>
        </p:nvSpPr>
        <p:spPr>
          <a:xfrm>
            <a:off x="540000" y="420000"/>
            <a:ext cx="8050000" cy="760000"/>
          </a:xfrm>
          <a:prstGeom prst="rect">
            <a:avLst/>
          </a:prstGeom>
          <a:noFill/>
        </p:spPr>
        <p:txBody>
          <a:bodyPr wrap="square"/>
          <a:lstStyle/>
          <a:p>
            <a:r>
              <a:rPr lang="en-US" sz="3900" b="1">
                <a:solidFill>
                  <a:srgbClr val="0F172A"/>
                </a:solidFill>
              </a:rPr>
              <a:t>Slide 7: System Architecture</a:t>
            </a:r>
          </a:p>
        </p:txBody>
      </p:sp>
      <p:sp>
        <p:nvSpPr>
          <p:cNvPr id="3" name="Body"/>
          <p:cNvSpPr txBox="1"/>
          <p:nvPr/>
        </p:nvSpPr>
        <p:spPr>
          <a:xfrm>
            <a:off x="760000" y="1420000"/>
            <a:ext cx="7900000" cy="4600000"/>
          </a:xfrm>
          <a:prstGeom prst="roundRect">
            <a:avLst/>
          </a:prstGeom>
          <a:solidFill>
            <a:srgbClr val="FFFFFF"/>
          </a:solidFill>
          <a:ln w="16000">
            <a:solidFill>
              <a:srgbClr val="CDEBDD"/>
            </a:solidFill>
          </a:ln>
        </p:spPr>
        <p:txBody>
          <a:bodyPr wrap="square" lIns="260000" tIns="220000" rIns="260000" bIns="220000"/>
          <a:lstStyle/>
        </p:txBody>
      </p:sp>
      <p:sp>
        <p:nvSpPr>
          <p:cNvPr id="4" name="Footer"/>
          <p:cNvSpPr txBox="1"/>
          <p:nvPr/>
        </p:nvSpPr>
        <p:spPr>
          <a:xfrm>
            <a:off x="650000" y="6400000"/>
            <a:ext cx="7900000" cy="300000"/>
          </a:xfrm>
          <a:prstGeom prst="rect">
            <a:avLst/>
          </a:prstGeom>
          <a:noFill/>
        </p:spPr>
        <p:txBody>
          <a:bodyPr/>
          <a:lstStyle/>
          <a:p>
            <a:r>
              <a:rPr lang="en-US" sz="1200">
                <a:solidFill>
                  <a:srgbClr val="10B981"/>
                </a:solidFill>
              </a:rPr>
              <a:t>NutriAI • AI Nutrition and Meal Planner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BF8"/>
        </a:solidFill>
        <a:effectLst/>
      </p:bgPr>
    </p:bg>
    <p:spTree>
      <p:nvGrpSpPr>
        <p:cNvPr id="1" name=""/>
        <p:cNvGrpSpPr/>
        <p:nvPr/>
      </p:nvGrpSpPr>
      <p:grpSpPr>
        <a:xfrm>
          <a:off x="0" y="0"/>
          <a:ext cx="0" cy="0"/>
          <a:chOff x="0" y="0"/>
          <a:chExt cx="0" cy="0"/>
        </a:xfrm>
      </p:grpSpPr>
      <p:sp>
        <p:nvSpPr>
          <p:cNvPr id="2" name="Title"/>
          <p:cNvSpPr txBox="1"/>
          <p:nvPr/>
        </p:nvSpPr>
        <p:spPr>
          <a:xfrm>
            <a:off x="540000" y="420000"/>
            <a:ext cx="8050000" cy="760000"/>
          </a:xfrm>
          <a:prstGeom prst="rect">
            <a:avLst/>
          </a:prstGeom>
          <a:noFill/>
        </p:spPr>
        <p:txBody>
          <a:bodyPr wrap="square"/>
          <a:lstStyle/>
          <a:p>
            <a:r>
              <a:rPr lang="en-US" sz="3900" b="1">
                <a:solidFill>
                  <a:srgbClr val="0F172A"/>
                </a:solidFill>
              </a:rPr>
              <a:t>Slide 8: How One Request Works</a:t>
            </a:r>
          </a:p>
        </p:txBody>
      </p:sp>
      <p:sp>
        <p:nvSpPr>
          <p:cNvPr id="3" name="Body"/>
          <p:cNvSpPr txBox="1"/>
          <p:nvPr/>
        </p:nvSpPr>
        <p:spPr>
          <a:xfrm>
            <a:off x="760000" y="1420000"/>
            <a:ext cx="7900000" cy="4600000"/>
          </a:xfrm>
          <a:prstGeom prst="roundRect">
            <a:avLst/>
          </a:prstGeom>
          <a:solidFill>
            <a:srgbClr val="FFFFFF"/>
          </a:solidFill>
          <a:ln w="16000">
            <a:solidFill>
              <a:srgbClr val="CDEBDD"/>
            </a:solidFill>
          </a:ln>
        </p:spPr>
        <p:txBody>
          <a:bodyPr wrap="square" lIns="260000" tIns="220000" rIns="260000" bIns="220000"/>
          <a:lstStyle/>
          <a:p>
            <a:pPr marL="220000" indent="-160000">
              <a:buChar char="•"/>
            </a:pPr>
            <a:r>
              <a:rPr lang="en-US" sz="2350"/>
              <a:t>Example: Generate meal plan</a:t>
            </a:r>
          </a:p>
          <a:p>
            <a:pPr marL="220000" indent="-160000">
              <a:buChar char="•"/>
            </a:pPr>
            <a:r>
              <a:rPr lang="en-US" sz="2350"/>
              <a:t>Flutter Meal Planner Screen</a:t>
            </a:r>
          </a:p>
          <a:p>
            <a:pPr marL="220000" indent="-160000">
              <a:buChar char="•"/>
            </a:pPr>
            <a:r>
              <a:rPr lang="en-US" sz="2350"/>
              <a:t>↓</a:t>
            </a:r>
          </a:p>
          <a:p>
            <a:pPr marL="220000" indent="-160000">
              <a:buChar char="•"/>
            </a:pPr>
            <a:r>
              <a:rPr lang="en-US" sz="2350"/>
              <a:t>REST API request</a:t>
            </a:r>
          </a:p>
          <a:p>
            <a:pPr marL="220000" indent="-160000">
              <a:buChar char="•"/>
            </a:pPr>
            <a:r>
              <a:rPr lang="en-US" sz="2350"/>
              <a:t>↓</a:t>
            </a:r>
          </a:p>
          <a:p>
            <a:pPr marL="220000" indent="-160000">
              <a:buChar char="•"/>
            </a:pPr>
            <a:r>
              <a:rPr lang="en-US" sz="2350"/>
              <a:t>FastAPI route validates input</a:t>
            </a:r>
          </a:p>
          <a:p>
            <a:pPr marL="220000" indent="-160000">
              <a:buChar char="•"/>
            </a:pPr>
            <a:r>
              <a:rPr lang="en-US" sz="2350"/>
              <a:t>↓</a:t>
            </a:r>
          </a:p>
          <a:p>
            <a:pPr marL="220000" indent="-160000">
              <a:buChar char="•"/>
            </a:pPr>
            <a:r>
              <a:rPr lang="en-US" sz="2350"/>
              <a:t>Meal recommendation service scores foods</a:t>
            </a:r>
          </a:p>
          <a:p>
            <a:pPr marL="220000" indent="-160000">
              <a:buChar char="•"/>
            </a:pPr>
            <a:r>
              <a:rPr lang="en-US" sz="2350"/>
              <a:t>↓</a:t>
            </a:r>
          </a:p>
        </p:txBody>
      </p:sp>
      <p:sp>
        <p:nvSpPr>
          <p:cNvPr id="4" name="Footer"/>
          <p:cNvSpPr txBox="1"/>
          <p:nvPr/>
        </p:nvSpPr>
        <p:spPr>
          <a:xfrm>
            <a:off x="650000" y="6400000"/>
            <a:ext cx="7900000" cy="300000"/>
          </a:xfrm>
          <a:prstGeom prst="rect">
            <a:avLst/>
          </a:prstGeom>
          <a:noFill/>
        </p:spPr>
        <p:txBody>
          <a:bodyPr/>
          <a:lstStyle/>
          <a:p>
            <a:r>
              <a:rPr lang="en-US" sz="1200">
                <a:solidFill>
                  <a:srgbClr val="10B981"/>
                </a:solidFill>
              </a:rPr>
              <a:t>NutriAI • AI Nutrition and Meal Planner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BF8"/>
        </a:solidFill>
        <a:effectLst/>
      </p:bgPr>
    </p:bg>
    <p:spTree>
      <p:nvGrpSpPr>
        <p:cNvPr id="1" name=""/>
        <p:cNvGrpSpPr/>
        <p:nvPr/>
      </p:nvGrpSpPr>
      <p:grpSpPr>
        <a:xfrm>
          <a:off x="0" y="0"/>
          <a:ext cx="0" cy="0"/>
          <a:chOff x="0" y="0"/>
          <a:chExt cx="0" cy="0"/>
        </a:xfrm>
      </p:grpSpPr>
      <p:sp>
        <p:nvSpPr>
          <p:cNvPr id="2" name="Title"/>
          <p:cNvSpPr txBox="1"/>
          <p:nvPr/>
        </p:nvSpPr>
        <p:spPr>
          <a:xfrm>
            <a:off x="540000" y="420000"/>
            <a:ext cx="8050000" cy="760000"/>
          </a:xfrm>
          <a:prstGeom prst="rect">
            <a:avLst/>
          </a:prstGeom>
          <a:noFill/>
        </p:spPr>
        <p:txBody>
          <a:bodyPr wrap="square"/>
          <a:lstStyle/>
          <a:p>
            <a:r>
              <a:rPr lang="en-US" sz="3900" b="1">
                <a:solidFill>
                  <a:srgbClr val="0F172A"/>
                </a:solidFill>
              </a:rPr>
              <a:t>Slide 9: AI and Intelligent Logic</a:t>
            </a:r>
          </a:p>
        </p:txBody>
      </p:sp>
      <p:sp>
        <p:nvSpPr>
          <p:cNvPr id="3" name="Body"/>
          <p:cNvSpPr txBox="1"/>
          <p:nvPr/>
        </p:nvSpPr>
        <p:spPr>
          <a:xfrm>
            <a:off x="760000" y="1420000"/>
            <a:ext cx="7900000" cy="4600000"/>
          </a:xfrm>
          <a:prstGeom prst="roundRect">
            <a:avLst/>
          </a:prstGeom>
          <a:solidFill>
            <a:srgbClr val="FFFFFF"/>
          </a:solidFill>
          <a:ln w="16000">
            <a:solidFill>
              <a:srgbClr val="CDEBDD"/>
            </a:solidFill>
          </a:ln>
        </p:spPr>
        <p:txBody>
          <a:bodyPr wrap="square" lIns="260000" tIns="220000" rIns="260000" bIns="220000"/>
          <a:lstStyle/>
          <a:p>
            <a:pPr marL="220000" indent="-160000"/>
            <a:r>
              <a:rPr lang="en-US" sz="2350"/>
              <a:t>NutriAI uses practical AI-assisted logic:</a:t>
            </a:r>
          </a:p>
          <a:p>
            <a:pPr marL="220000" indent="-160000">
              <a:buChar char="•"/>
            </a:pPr>
            <a:r>
              <a:rPr lang="en-US" sz="2350"/>
              <a:t>Meal recommendation using heuristic scoring</a:t>
            </a:r>
          </a:p>
          <a:p>
            <a:pPr marL="220000" indent="-160000">
              <a:buChar char="•"/>
            </a:pPr>
            <a:r>
              <a:rPr lang="en-US" sz="2350"/>
              <a:t>Calorie target calculation using health formulas</a:t>
            </a:r>
          </a:p>
          <a:p>
            <a:pPr marL="220000" indent="-160000">
              <a:buChar char="•"/>
            </a:pPr>
            <a:r>
              <a:rPr lang="en-US" sz="2350"/>
              <a:t>Food substitute suggestions based on nutrition similarity</a:t>
            </a:r>
          </a:p>
          <a:p>
            <a:pPr marL="220000" indent="-160000">
              <a:buChar char="•"/>
            </a:pPr>
            <a:r>
              <a:rPr lang="en-US" sz="2350"/>
              <a:t>Health-risk screening using transparent rules</a:t>
            </a:r>
          </a:p>
          <a:p>
            <a:pPr marL="220000" indent="-160000">
              <a:buChar char="•"/>
            </a:pPr>
            <a:r>
              <a:rPr lang="en-US" sz="2350"/>
              <a:t>Nutrition chatbot with local or external AI provider support</a:t>
            </a:r>
          </a:p>
          <a:p>
            <a:pPr marL="220000" indent="-160000">
              <a:buChar char="•"/>
            </a:pPr>
            <a:r>
              <a:rPr lang="en-US" sz="2350"/>
              <a:t>Conservative food-photo assistance</a:t>
            </a:r>
          </a:p>
        </p:txBody>
      </p:sp>
      <p:sp>
        <p:nvSpPr>
          <p:cNvPr id="4" name="Footer"/>
          <p:cNvSpPr txBox="1"/>
          <p:nvPr/>
        </p:nvSpPr>
        <p:spPr>
          <a:xfrm>
            <a:off x="650000" y="6400000"/>
            <a:ext cx="7900000" cy="300000"/>
          </a:xfrm>
          <a:prstGeom prst="rect">
            <a:avLst/>
          </a:prstGeom>
          <a:noFill/>
        </p:spPr>
        <p:txBody>
          <a:bodyPr/>
          <a:lstStyle/>
          <a:p>
            <a:r>
              <a:rPr lang="en-US" sz="1200">
                <a:solidFill>
                  <a:srgbClr val="10B981"/>
                </a:solidFill>
              </a:rPr>
              <a:t>NutriAI • AI Nutrition and Meal Planner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BF8"/>
        </a:solidFill>
        <a:effectLst/>
      </p:bgPr>
    </p:bg>
    <p:spTree>
      <p:nvGrpSpPr>
        <p:cNvPr id="1" name=""/>
        <p:cNvGrpSpPr/>
        <p:nvPr/>
      </p:nvGrpSpPr>
      <p:grpSpPr>
        <a:xfrm>
          <a:off x="0" y="0"/>
          <a:ext cx="0" cy="0"/>
          <a:chOff x="0" y="0"/>
          <a:chExt cx="0" cy="0"/>
        </a:xfrm>
      </p:grpSpPr>
      <p:sp>
        <p:nvSpPr>
          <p:cNvPr id="2" name="Title"/>
          <p:cNvSpPr txBox="1"/>
          <p:nvPr/>
        </p:nvSpPr>
        <p:spPr>
          <a:xfrm>
            <a:off x="540000" y="420000"/>
            <a:ext cx="8050000" cy="760000"/>
          </a:xfrm>
          <a:prstGeom prst="rect">
            <a:avLst/>
          </a:prstGeom>
          <a:noFill/>
        </p:spPr>
        <p:txBody>
          <a:bodyPr wrap="square"/>
          <a:lstStyle/>
          <a:p>
            <a:r>
              <a:rPr lang="en-US" sz="3900" b="1">
                <a:solidFill>
                  <a:srgbClr val="0F172A"/>
                </a:solidFill>
              </a:rPr>
              <a:t>Slide 10: Meal Recommendation Logic</a:t>
            </a:r>
          </a:p>
        </p:txBody>
      </p:sp>
      <p:sp>
        <p:nvSpPr>
          <p:cNvPr id="3" name="Body"/>
          <p:cNvSpPr txBox="1"/>
          <p:nvPr/>
        </p:nvSpPr>
        <p:spPr>
          <a:xfrm>
            <a:off x="760000" y="1420000"/>
            <a:ext cx="7900000" cy="4600000"/>
          </a:xfrm>
          <a:prstGeom prst="roundRect">
            <a:avLst/>
          </a:prstGeom>
          <a:solidFill>
            <a:srgbClr val="FFFFFF"/>
          </a:solidFill>
          <a:ln w="16000">
            <a:solidFill>
              <a:srgbClr val="CDEBDD"/>
            </a:solidFill>
          </a:ln>
        </p:spPr>
        <p:txBody>
          <a:bodyPr wrap="square" lIns="260000" tIns="220000" rIns="260000" bIns="220000"/>
          <a:lstStyle/>
          <a:p>
            <a:pPr marL="220000" indent="-160000">
              <a:buChar char="•"/>
            </a:pPr>
            <a:r>
              <a:rPr lang="en-US" sz="2350"/>
              <a:t>The meal recommender:</a:t>
            </a:r>
          </a:p>
          <a:p>
            <a:pPr marL="220000" indent="-160000">
              <a:buChar char="•"/>
            </a:pPr>
            <a:r>
              <a:rPr lang="en-US" sz="2350"/>
              <a:t>1. Loads available foods</a:t>
            </a:r>
          </a:p>
          <a:p>
            <a:pPr marL="220000" indent="-160000">
              <a:buChar char="•"/>
            </a:pPr>
            <a:r>
              <a:rPr lang="en-US" sz="2350"/>
              <a:t>2. Removes foods that conflict with allergies</a:t>
            </a:r>
          </a:p>
          <a:p>
            <a:pPr marL="220000" indent="-160000">
              <a:buChar char="•"/>
            </a:pPr>
            <a:r>
              <a:rPr lang="en-US" sz="2350"/>
              <a:t>3. Applies dietary preference rules</a:t>
            </a:r>
          </a:p>
          <a:p>
            <a:pPr marL="220000" indent="-160000">
              <a:buChar char="•"/>
            </a:pPr>
            <a:r>
              <a:rPr lang="en-US" sz="2350"/>
              <a:t>4. Builds possible food combinations</a:t>
            </a:r>
          </a:p>
          <a:p>
            <a:pPr marL="220000" indent="-160000">
              <a:buChar char="•"/>
            </a:pPr>
            <a:r>
              <a:rPr lang="en-US" sz="2350"/>
              <a:t>5. Scores each combination against targets</a:t>
            </a:r>
          </a:p>
          <a:p>
            <a:pPr marL="220000" indent="-160000">
              <a:buChar char="•"/>
            </a:pPr>
            <a:r>
              <a:rPr lang="en-US" sz="2350"/>
              <a:t>6. Selects the best matching meal</a:t>
            </a:r>
          </a:p>
          <a:p>
            <a:pPr marL="220000" indent="-160000">
              <a:buChar char="•"/>
            </a:pPr>
            <a:r>
              <a:rPr lang="en-US" sz="2350"/>
              <a:t>Simplified score:</a:t>
            </a:r>
          </a:p>
          <a:p>
            <a:pPr marL="220000" indent="-160000">
              <a:buChar char="•"/>
            </a:pPr>
            <a:r>
              <a:rPr lang="en-US" sz="2350"/>
              <a:t>score =</a:t>
            </a:r>
          </a:p>
        </p:txBody>
      </p:sp>
      <p:sp>
        <p:nvSpPr>
          <p:cNvPr id="4" name="Footer"/>
          <p:cNvSpPr txBox="1"/>
          <p:nvPr/>
        </p:nvSpPr>
        <p:spPr>
          <a:xfrm>
            <a:off x="650000" y="6400000"/>
            <a:ext cx="7900000" cy="300000"/>
          </a:xfrm>
          <a:prstGeom prst="rect">
            <a:avLst/>
          </a:prstGeom>
          <a:noFill/>
        </p:spPr>
        <p:txBody>
          <a:bodyPr/>
          <a:lstStyle/>
          <a:p>
            <a:r>
              <a:rPr lang="en-US" sz="1200">
                <a:solidFill>
                  <a:srgbClr val="10B981"/>
                </a:solidFill>
              </a:rPr>
              <a:t>NutriAI • AI Nutrition and Meal Planner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BF8"/>
        </a:solidFill>
        <a:effectLst/>
      </p:bgPr>
    </p:bg>
    <p:spTree>
      <p:nvGrpSpPr>
        <p:cNvPr id="1" name=""/>
        <p:cNvGrpSpPr/>
        <p:nvPr/>
      </p:nvGrpSpPr>
      <p:grpSpPr>
        <a:xfrm>
          <a:off x="0" y="0"/>
          <a:ext cx="0" cy="0"/>
          <a:chOff x="0" y="0"/>
          <a:chExt cx="0" cy="0"/>
        </a:xfrm>
      </p:grpSpPr>
      <p:sp>
        <p:nvSpPr>
          <p:cNvPr id="2" name="Title"/>
          <p:cNvSpPr txBox="1"/>
          <p:nvPr/>
        </p:nvSpPr>
        <p:spPr>
          <a:xfrm>
            <a:off x="540000" y="420000"/>
            <a:ext cx="8050000" cy="760000"/>
          </a:xfrm>
          <a:prstGeom prst="rect">
            <a:avLst/>
          </a:prstGeom>
          <a:noFill/>
        </p:spPr>
        <p:txBody>
          <a:bodyPr wrap="square"/>
          <a:lstStyle/>
          <a:p>
            <a:r>
              <a:rPr lang="en-US" sz="3900" b="1">
                <a:solidFill>
                  <a:srgbClr val="0F172A"/>
                </a:solidFill>
              </a:rPr>
              <a:t>Slide 11: Database Design</a:t>
            </a:r>
          </a:p>
        </p:txBody>
      </p:sp>
      <p:sp>
        <p:nvSpPr>
          <p:cNvPr id="3" name="Body"/>
          <p:cNvSpPr txBox="1"/>
          <p:nvPr/>
        </p:nvSpPr>
        <p:spPr>
          <a:xfrm>
            <a:off x="760000" y="1420000"/>
            <a:ext cx="7900000" cy="4600000"/>
          </a:xfrm>
          <a:prstGeom prst="roundRect">
            <a:avLst/>
          </a:prstGeom>
          <a:solidFill>
            <a:srgbClr val="FFFFFF"/>
          </a:solidFill>
          <a:ln w="16000">
            <a:solidFill>
              <a:srgbClr val="CDEBDD"/>
            </a:solidFill>
          </a:ln>
        </p:spPr>
        <p:txBody>
          <a:bodyPr wrap="square" lIns="260000" tIns="220000" rIns="260000" bIns="220000"/>
          <a:lstStyle/>
          <a:p>
            <a:pPr marL="220000" indent="-160000"/>
            <a:r>
              <a:rPr lang="en-US" sz="2350"/>
              <a:t>Main data stored in PostgreSQL:</a:t>
            </a:r>
          </a:p>
          <a:p>
            <a:pPr marL="220000" indent="-160000">
              <a:buChar char="•"/>
            </a:pPr>
            <a:r>
              <a:rPr lang="en-US" sz="2350"/>
              <a:t>Users and authentication data</a:t>
            </a:r>
          </a:p>
          <a:p>
            <a:pPr marL="220000" indent="-160000">
              <a:buChar char="•"/>
            </a:pPr>
            <a:r>
              <a:rPr lang="en-US" sz="2350"/>
              <a:t>Health profiles and goals</a:t>
            </a:r>
          </a:p>
          <a:p>
            <a:pPr marL="220000" indent="-160000">
              <a:buChar char="•"/>
            </a:pPr>
            <a:r>
              <a:rPr lang="en-US" sz="2350"/>
              <a:t>Food database records</a:t>
            </a:r>
          </a:p>
          <a:p>
            <a:pPr marL="220000" indent="-160000">
              <a:buChar char="•"/>
            </a:pPr>
            <a:r>
              <a:rPr lang="en-US" sz="2350"/>
              <a:t>Allergies</a:t>
            </a:r>
          </a:p>
          <a:p>
            <a:pPr marL="220000" indent="-160000">
              <a:buChar char="•"/>
            </a:pPr>
            <a:r>
              <a:rPr lang="en-US" sz="2350"/>
              <a:t>Meal plans</a:t>
            </a:r>
          </a:p>
          <a:p>
            <a:pPr marL="220000" indent="-160000">
              <a:buChar char="•"/>
            </a:pPr>
            <a:r>
              <a:rPr lang="en-US" sz="2350"/>
              <a:t>Grocery items</a:t>
            </a:r>
          </a:p>
          <a:p>
            <a:pPr marL="220000" indent="-160000">
              <a:buChar char="•"/>
            </a:pPr>
            <a:r>
              <a:rPr lang="en-US" sz="2350"/>
              <a:t>Food logs</a:t>
            </a:r>
          </a:p>
          <a:p>
            <a:pPr marL="220000" indent="-160000">
              <a:buChar char="•"/>
            </a:pPr>
            <a:r>
              <a:rPr lang="en-US" sz="2350"/>
              <a:t>Water logs</a:t>
            </a:r>
          </a:p>
        </p:txBody>
      </p:sp>
      <p:sp>
        <p:nvSpPr>
          <p:cNvPr id="4" name="Footer"/>
          <p:cNvSpPr txBox="1"/>
          <p:nvPr/>
        </p:nvSpPr>
        <p:spPr>
          <a:xfrm>
            <a:off x="650000" y="6400000"/>
            <a:ext cx="7900000" cy="300000"/>
          </a:xfrm>
          <a:prstGeom prst="rect">
            <a:avLst/>
          </a:prstGeom>
          <a:noFill/>
        </p:spPr>
        <p:txBody>
          <a:bodyPr/>
          <a:lstStyle/>
          <a:p>
            <a:r>
              <a:rPr lang="en-US" sz="1200">
                <a:solidFill>
                  <a:srgbClr val="10B981"/>
                </a:solidFill>
              </a:rPr>
              <a:t>NutriAI • AI Nutrition and Meal Planner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BF8"/>
        </a:solidFill>
        <a:effectLst/>
      </p:bgPr>
    </p:bg>
    <p:spTree>
      <p:nvGrpSpPr>
        <p:cNvPr id="1" name=""/>
        <p:cNvGrpSpPr/>
        <p:nvPr/>
      </p:nvGrpSpPr>
      <p:grpSpPr>
        <a:xfrm>
          <a:off x="0" y="0"/>
          <a:ext cx="0" cy="0"/>
          <a:chOff x="0" y="0"/>
          <a:chExt cx="0" cy="0"/>
        </a:xfrm>
      </p:grpSpPr>
      <p:sp>
        <p:nvSpPr>
          <p:cNvPr id="2" name="Title"/>
          <p:cNvSpPr txBox="1"/>
          <p:nvPr/>
        </p:nvSpPr>
        <p:spPr>
          <a:xfrm>
            <a:off x="540000" y="420000"/>
            <a:ext cx="8050000" cy="760000"/>
          </a:xfrm>
          <a:prstGeom prst="rect">
            <a:avLst/>
          </a:prstGeom>
          <a:noFill/>
        </p:spPr>
        <p:txBody>
          <a:bodyPr wrap="square"/>
          <a:lstStyle/>
          <a:p>
            <a:r>
              <a:rPr lang="en-US" sz="3900" b="1">
                <a:solidFill>
                  <a:srgbClr val="0F172A"/>
                </a:solidFill>
              </a:rPr>
              <a:t>Slide 12: Frontend Screens</a:t>
            </a:r>
          </a:p>
        </p:txBody>
      </p:sp>
      <p:sp>
        <p:nvSpPr>
          <p:cNvPr id="3" name="Body"/>
          <p:cNvSpPr txBox="1"/>
          <p:nvPr/>
        </p:nvSpPr>
        <p:spPr>
          <a:xfrm>
            <a:off x="760000" y="1420000"/>
            <a:ext cx="7900000" cy="4600000"/>
          </a:xfrm>
          <a:prstGeom prst="roundRect">
            <a:avLst/>
          </a:prstGeom>
          <a:solidFill>
            <a:srgbClr val="FFFFFF"/>
          </a:solidFill>
          <a:ln w="16000">
            <a:solidFill>
              <a:srgbClr val="CDEBDD"/>
            </a:solidFill>
          </a:ln>
        </p:spPr>
        <p:txBody>
          <a:bodyPr wrap="square" lIns="260000" tIns="220000" rIns="260000" bIns="220000"/>
          <a:lstStyle/>
          <a:p>
            <a:pPr marL="220000" indent="-160000">
              <a:buChar char="•"/>
            </a:pPr>
            <a:r>
              <a:rPr lang="en-US" sz="2350"/>
              <a:t>The Flutter application includes:</a:t>
            </a:r>
          </a:p>
          <a:p>
            <a:pPr marL="220000" indent="-160000">
              <a:buChar char="•"/>
            </a:pPr>
            <a:r>
              <a:rPr lang="en-US" sz="2350"/>
              <a:t>Dashboard</a:t>
            </a:r>
          </a:p>
          <a:p>
            <a:pPr marL="220000" indent="-160000">
              <a:buChar char="•"/>
            </a:pPr>
            <a:r>
              <a:rPr lang="en-US" sz="2350"/>
              <a:t>Profile</a:t>
            </a:r>
          </a:p>
          <a:p>
            <a:pPr marL="220000" indent="-160000">
              <a:buChar char="•"/>
            </a:pPr>
            <a:r>
              <a:rPr lang="en-US" sz="2350"/>
              <a:t>Foods</a:t>
            </a:r>
          </a:p>
          <a:p>
            <a:pPr marL="220000" indent="-160000">
              <a:buChar char="•"/>
            </a:pPr>
            <a:r>
              <a:rPr lang="en-US" sz="2350"/>
              <a:t>Log Food</a:t>
            </a:r>
          </a:p>
          <a:p>
            <a:pPr marL="220000" indent="-160000">
              <a:buChar char="•"/>
            </a:pPr>
            <a:r>
              <a:rPr lang="en-US" sz="2350"/>
              <a:t>Meal Planner</a:t>
            </a:r>
          </a:p>
          <a:p>
            <a:pPr marL="220000" indent="-160000">
              <a:buChar char="•"/>
            </a:pPr>
            <a:r>
              <a:rPr lang="en-US" sz="2350"/>
              <a:t>Grocery</a:t>
            </a:r>
          </a:p>
          <a:p>
            <a:pPr marL="220000" indent="-160000">
              <a:buChar char="•"/>
            </a:pPr>
            <a:r>
              <a:rPr lang="en-US" sz="2350"/>
              <a:t>Progress</a:t>
            </a:r>
          </a:p>
          <a:p>
            <a:pPr marL="220000" indent="-160000">
              <a:buChar char="•"/>
            </a:pPr>
            <a:r>
              <a:rPr lang="en-US" sz="2350"/>
              <a:t>Allergies</a:t>
            </a:r>
          </a:p>
        </p:txBody>
      </p:sp>
      <p:sp>
        <p:nvSpPr>
          <p:cNvPr id="4" name="Footer"/>
          <p:cNvSpPr txBox="1"/>
          <p:nvPr/>
        </p:nvSpPr>
        <p:spPr>
          <a:xfrm>
            <a:off x="650000" y="6400000"/>
            <a:ext cx="7900000" cy="300000"/>
          </a:xfrm>
          <a:prstGeom prst="rect">
            <a:avLst/>
          </a:prstGeom>
          <a:noFill/>
        </p:spPr>
        <p:txBody>
          <a:bodyPr/>
          <a:lstStyle/>
          <a:p>
            <a:r>
              <a:rPr lang="en-US" sz="1200">
                <a:solidFill>
                  <a:srgbClr val="10B981"/>
                </a:solidFill>
              </a:rPr>
              <a:t>NutriAI • AI Nutrition and Meal Planner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BF8"/>
        </a:solidFill>
        <a:effectLst/>
      </p:bgPr>
    </p:bg>
    <p:spTree>
      <p:nvGrpSpPr>
        <p:cNvPr id="1" name=""/>
        <p:cNvGrpSpPr/>
        <p:nvPr/>
      </p:nvGrpSpPr>
      <p:grpSpPr>
        <a:xfrm>
          <a:off x="0" y="0"/>
          <a:ext cx="0" cy="0"/>
          <a:chOff x="0" y="0"/>
          <a:chExt cx="0" cy="0"/>
        </a:xfrm>
      </p:grpSpPr>
      <p:sp>
        <p:nvSpPr>
          <p:cNvPr id="2" name="Title"/>
          <p:cNvSpPr txBox="1"/>
          <p:nvPr/>
        </p:nvSpPr>
        <p:spPr>
          <a:xfrm>
            <a:off x="540000" y="420000"/>
            <a:ext cx="8050000" cy="760000"/>
          </a:xfrm>
          <a:prstGeom prst="rect">
            <a:avLst/>
          </a:prstGeom>
          <a:noFill/>
        </p:spPr>
        <p:txBody>
          <a:bodyPr wrap="square"/>
          <a:lstStyle/>
          <a:p>
            <a:r>
              <a:rPr lang="en-US" sz="3900" b="1">
                <a:solidFill>
                  <a:srgbClr val="0F172A"/>
                </a:solidFill>
              </a:rPr>
              <a:t>Slide 13: Recent UI Improvements</a:t>
            </a:r>
          </a:p>
        </p:txBody>
      </p:sp>
      <p:sp>
        <p:nvSpPr>
          <p:cNvPr id="3" name="Body"/>
          <p:cNvSpPr txBox="1"/>
          <p:nvPr/>
        </p:nvSpPr>
        <p:spPr>
          <a:xfrm>
            <a:off x="760000" y="1420000"/>
            <a:ext cx="7900000" cy="4600000"/>
          </a:xfrm>
          <a:prstGeom prst="roundRect">
            <a:avLst/>
          </a:prstGeom>
          <a:solidFill>
            <a:srgbClr val="FFFFFF"/>
          </a:solidFill>
          <a:ln w="16000">
            <a:solidFill>
              <a:srgbClr val="CDEBDD"/>
            </a:solidFill>
          </a:ln>
        </p:spPr>
        <p:txBody>
          <a:bodyPr wrap="square" lIns="260000" tIns="220000" rIns="260000" bIns="220000"/>
          <a:lstStyle/>
          <a:p>
            <a:pPr marL="220000" indent="-160000">
              <a:buChar char="•"/>
            </a:pPr>
            <a:r>
              <a:rPr lang="en-US" sz="2350"/>
              <a:t>The interface was improved with:</a:t>
            </a:r>
          </a:p>
          <a:p>
            <a:pPr marL="220000" indent="-160000">
              <a:buChar char="•"/>
            </a:pPr>
            <a:r>
              <a:rPr lang="en-US" sz="2350"/>
              <a:t>Dark mode support across the system</a:t>
            </a:r>
          </a:p>
          <a:p>
            <a:pPr marL="220000" indent="-160000">
              <a:buChar char="•"/>
            </a:pPr>
            <a:r>
              <a:rPr lang="en-US" sz="2350"/>
              <a:t>Better text contrast in dark mode</a:t>
            </a:r>
          </a:p>
          <a:p>
            <a:pPr marL="220000" indent="-160000">
              <a:buChar char="•"/>
            </a:pPr>
            <a:r>
              <a:rPr lang="en-US" sz="2350"/>
              <a:t>Hover effects on cards and buttons</a:t>
            </a:r>
          </a:p>
          <a:p>
            <a:pPr marL="220000" indent="-160000">
              <a:buChar char="•"/>
            </a:pPr>
            <a:r>
              <a:rPr lang="en-US" sz="2350"/>
              <a:t>Clickable quick action cards</a:t>
            </a:r>
          </a:p>
          <a:p>
            <a:pPr marL="220000" indent="-160000">
              <a:buChar char="•"/>
            </a:pPr>
            <a:r>
              <a:rPr lang="en-US" sz="2350"/>
              <a:t>Theme-aware dropdown colors</a:t>
            </a:r>
          </a:p>
          <a:p>
            <a:pPr marL="220000" indent="-160000">
              <a:buChar char="•"/>
            </a:pPr>
            <a:r>
              <a:rPr lang="en-US" sz="2350"/>
              <a:t>More consistent card styling</a:t>
            </a:r>
          </a:p>
        </p:txBody>
      </p:sp>
      <p:sp>
        <p:nvSpPr>
          <p:cNvPr id="4" name="Footer"/>
          <p:cNvSpPr txBox="1"/>
          <p:nvPr/>
        </p:nvSpPr>
        <p:spPr>
          <a:xfrm>
            <a:off x="650000" y="6400000"/>
            <a:ext cx="7900000" cy="300000"/>
          </a:xfrm>
          <a:prstGeom prst="rect">
            <a:avLst/>
          </a:prstGeom>
          <a:noFill/>
        </p:spPr>
        <p:txBody>
          <a:bodyPr/>
          <a:lstStyle/>
          <a:p>
            <a:r>
              <a:rPr lang="en-US" sz="1200">
                <a:solidFill>
                  <a:srgbClr val="10B981"/>
                </a:solidFill>
              </a:rPr>
              <a:t>NutriAI • AI Nutrition and Meal Planner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BF8"/>
        </a:solidFill>
        <a:effectLst/>
      </p:bgPr>
    </p:bg>
    <p:spTree>
      <p:nvGrpSpPr>
        <p:cNvPr id="1" name=""/>
        <p:cNvGrpSpPr/>
        <p:nvPr/>
      </p:nvGrpSpPr>
      <p:grpSpPr>
        <a:xfrm>
          <a:off x="0" y="0"/>
          <a:ext cx="0" cy="0"/>
          <a:chOff x="0" y="0"/>
          <a:chExt cx="0" cy="0"/>
        </a:xfrm>
      </p:grpSpPr>
      <p:sp>
        <p:nvSpPr>
          <p:cNvPr id="2" name="Title"/>
          <p:cNvSpPr txBox="1"/>
          <p:nvPr/>
        </p:nvSpPr>
        <p:spPr>
          <a:xfrm>
            <a:off x="540000" y="420000"/>
            <a:ext cx="8050000" cy="760000"/>
          </a:xfrm>
          <a:prstGeom prst="rect">
            <a:avLst/>
          </a:prstGeom>
          <a:noFill/>
        </p:spPr>
        <p:txBody>
          <a:bodyPr wrap="square"/>
          <a:lstStyle/>
          <a:p>
            <a:r>
              <a:rPr lang="en-US" sz="3900" b="1">
                <a:solidFill>
                  <a:srgbClr val="0F172A"/>
                </a:solidFill>
              </a:rPr>
              <a:t>Slide 14: Testing and Validation</a:t>
            </a:r>
          </a:p>
        </p:txBody>
      </p:sp>
      <p:sp>
        <p:nvSpPr>
          <p:cNvPr id="3" name="Body"/>
          <p:cNvSpPr txBox="1"/>
          <p:nvPr/>
        </p:nvSpPr>
        <p:spPr>
          <a:xfrm>
            <a:off x="760000" y="1420000"/>
            <a:ext cx="7900000" cy="4600000"/>
          </a:xfrm>
          <a:prstGeom prst="roundRect">
            <a:avLst/>
          </a:prstGeom>
          <a:solidFill>
            <a:srgbClr val="FFFFFF"/>
          </a:solidFill>
          <a:ln w="16000">
            <a:solidFill>
              <a:srgbClr val="CDEBDD"/>
            </a:solidFill>
          </a:ln>
        </p:spPr>
        <p:txBody>
          <a:bodyPr wrap="square" lIns="260000" tIns="220000" rIns="260000" bIns="220000"/>
          <a:lstStyle/>
          <a:p>
            <a:pPr marL="220000" indent="-160000">
              <a:buChar char="•"/>
            </a:pPr>
            <a:r>
              <a:rPr lang="en-US" sz="2350"/>
              <a:t>The project includes:</a:t>
            </a:r>
          </a:p>
          <a:p>
            <a:pPr marL="220000" indent="-160000">
              <a:buChar char="•"/>
            </a:pPr>
            <a:r>
              <a:rPr lang="en-US" sz="2350"/>
              <a:t>Flutter widget tests</a:t>
            </a:r>
          </a:p>
          <a:p>
            <a:pPr marL="220000" indent="-160000">
              <a:buChar char="•"/>
            </a:pPr>
            <a:r>
              <a:rPr lang="en-US" sz="2350"/>
              <a:t>Authentication flow testing</a:t>
            </a:r>
          </a:p>
          <a:p>
            <a:pPr marL="220000" indent="-160000">
              <a:buChar char="•"/>
            </a:pPr>
            <a:r>
              <a:rPr lang="en-US" sz="2350"/>
              <a:t>Navigation testing</a:t>
            </a:r>
          </a:p>
          <a:p>
            <a:pPr marL="220000" indent="-160000">
              <a:buChar char="•"/>
            </a:pPr>
            <a:r>
              <a:rPr lang="en-US" sz="2350"/>
              <a:t>Dark mode readability testing</a:t>
            </a:r>
          </a:p>
          <a:p>
            <a:pPr marL="220000" indent="-160000">
              <a:buChar char="•"/>
            </a:pPr>
            <a:r>
              <a:rPr lang="en-US" sz="2350"/>
              <a:t>Quick action button testing</a:t>
            </a:r>
          </a:p>
          <a:p>
            <a:pPr marL="220000" indent="-160000">
              <a:buChar char="•"/>
            </a:pPr>
            <a:r>
              <a:rPr lang="en-US" sz="2350"/>
              <a:t>Dropdown contrast testing</a:t>
            </a:r>
          </a:p>
          <a:p>
            <a:pPr marL="220000" indent="-160000">
              <a:buChar char="•"/>
            </a:pPr>
            <a:r>
              <a:rPr lang="en-US" sz="2350"/>
              <a:t>Backend route and service structure for API validation</a:t>
            </a:r>
          </a:p>
        </p:txBody>
      </p:sp>
      <p:sp>
        <p:nvSpPr>
          <p:cNvPr id="4" name="Footer"/>
          <p:cNvSpPr txBox="1"/>
          <p:nvPr/>
        </p:nvSpPr>
        <p:spPr>
          <a:xfrm>
            <a:off x="650000" y="6400000"/>
            <a:ext cx="7900000" cy="300000"/>
          </a:xfrm>
          <a:prstGeom prst="rect">
            <a:avLst/>
          </a:prstGeom>
          <a:noFill/>
        </p:spPr>
        <p:txBody>
          <a:bodyPr/>
          <a:lstStyle/>
          <a:p>
            <a:r>
              <a:rPr lang="en-US" sz="1200">
                <a:solidFill>
                  <a:srgbClr val="10B981"/>
                </a:solidFill>
              </a:rPr>
              <a:t>NutriAI • AI Nutrition and Meal Planner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BF8"/>
        </a:solidFill>
        <a:effectLst/>
      </p:bgPr>
    </p:bg>
    <p:spTree>
      <p:nvGrpSpPr>
        <p:cNvPr id="1" name=""/>
        <p:cNvGrpSpPr/>
        <p:nvPr/>
      </p:nvGrpSpPr>
      <p:grpSpPr>
        <a:xfrm>
          <a:off x="0" y="0"/>
          <a:ext cx="0" cy="0"/>
          <a:chOff x="0" y="0"/>
          <a:chExt cx="0" cy="0"/>
        </a:xfrm>
      </p:grpSpPr>
      <p:sp>
        <p:nvSpPr>
          <p:cNvPr id="2" name="Title"/>
          <p:cNvSpPr txBox="1"/>
          <p:nvPr/>
        </p:nvSpPr>
        <p:spPr>
          <a:xfrm>
            <a:off x="540000" y="420000"/>
            <a:ext cx="8050000" cy="760000"/>
          </a:xfrm>
          <a:prstGeom prst="rect">
            <a:avLst/>
          </a:prstGeom>
          <a:noFill/>
        </p:spPr>
        <p:txBody>
          <a:bodyPr wrap="square"/>
          <a:lstStyle/>
          <a:p>
            <a:r>
              <a:rPr lang="en-US" sz="3900" b="1">
                <a:solidFill>
                  <a:srgbClr val="0F172A"/>
                </a:solidFill>
              </a:rPr>
              <a:t>Slide 15: Deployment</a:t>
            </a:r>
          </a:p>
        </p:txBody>
      </p:sp>
      <p:sp>
        <p:nvSpPr>
          <p:cNvPr id="3" name="Body"/>
          <p:cNvSpPr txBox="1"/>
          <p:nvPr/>
        </p:nvSpPr>
        <p:spPr>
          <a:xfrm>
            <a:off x="760000" y="1420000"/>
            <a:ext cx="7900000" cy="4600000"/>
          </a:xfrm>
          <a:prstGeom prst="roundRect">
            <a:avLst/>
          </a:prstGeom>
          <a:solidFill>
            <a:srgbClr val="FFFFFF"/>
          </a:solidFill>
          <a:ln w="16000">
            <a:solidFill>
              <a:srgbClr val="CDEBDD"/>
            </a:solidFill>
          </a:ln>
        </p:spPr>
        <p:txBody>
          <a:bodyPr wrap="square" lIns="260000" tIns="220000" rIns="260000" bIns="220000"/>
          <a:lstStyle/>
          <a:p>
            <a:pPr marL="220000" indent="-160000"/>
            <a:r>
              <a:rPr lang="en-US" sz="2350"/>
              <a:t>NutriAI can run with Docker Compose:</a:t>
            </a:r>
          </a:p>
          <a:p>
            <a:pPr marL="220000" indent="-160000">
              <a:buChar char="•"/>
            </a:pPr>
            <a:r>
              <a:rPr lang="en-US" sz="2350"/>
              <a:t>docker compose up --build -d</a:t>
            </a:r>
          </a:p>
          <a:p>
            <a:pPr marL="220000" indent="-160000">
              <a:buChar char="•"/>
            </a:pPr>
            <a:r>
              <a:rPr lang="en-US" sz="2350"/>
              <a:t>docker compose ps</a:t>
            </a:r>
          </a:p>
          <a:p>
            <a:pPr marL="220000" indent="-160000">
              <a:buChar char="•"/>
            </a:pPr>
            <a:r>
              <a:rPr lang="en-US" sz="2350"/>
              <a:t>Services:</a:t>
            </a:r>
          </a:p>
          <a:p>
            <a:pPr marL="220000" indent="-160000">
              <a:buChar char="•"/>
            </a:pPr>
            <a:r>
              <a:rPr lang="en-US" sz="2350"/>
              <a:t>PostgreSQL database</a:t>
            </a:r>
          </a:p>
          <a:p>
            <a:pPr marL="220000" indent="-160000">
              <a:buChar char="•"/>
            </a:pPr>
            <a:r>
              <a:rPr lang="en-US" sz="2350"/>
              <a:t>FastAPI backend</a:t>
            </a:r>
          </a:p>
          <a:p>
            <a:pPr marL="220000" indent="-160000">
              <a:buChar char="•"/>
            </a:pPr>
            <a:r>
              <a:rPr lang="en-US" sz="2350"/>
              <a:t>Flutter web frontend served through Nginx</a:t>
            </a:r>
          </a:p>
        </p:txBody>
      </p:sp>
      <p:sp>
        <p:nvSpPr>
          <p:cNvPr id="4" name="Footer"/>
          <p:cNvSpPr txBox="1"/>
          <p:nvPr/>
        </p:nvSpPr>
        <p:spPr>
          <a:xfrm>
            <a:off x="650000" y="6400000"/>
            <a:ext cx="7900000" cy="300000"/>
          </a:xfrm>
          <a:prstGeom prst="rect">
            <a:avLst/>
          </a:prstGeom>
          <a:noFill/>
        </p:spPr>
        <p:txBody>
          <a:bodyPr/>
          <a:lstStyle/>
          <a:p>
            <a:r>
              <a:rPr lang="en-US" sz="1200">
                <a:solidFill>
                  <a:srgbClr val="10B981"/>
                </a:solidFill>
              </a:rPr>
              <a:t>NutriAI • AI Nutrition and Meal Planner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BF8"/>
        </a:solidFill>
        <a:effectLst/>
      </p:bgPr>
    </p:bg>
    <p:spTree>
      <p:nvGrpSpPr>
        <p:cNvPr id="1" name=""/>
        <p:cNvGrpSpPr/>
        <p:nvPr/>
      </p:nvGrpSpPr>
      <p:grpSpPr>
        <a:xfrm>
          <a:off x="0" y="0"/>
          <a:ext cx="0" cy="0"/>
          <a:chOff x="0" y="0"/>
          <a:chExt cx="0" cy="0"/>
        </a:xfrm>
      </p:grpSpPr>
      <p:sp>
        <p:nvSpPr>
          <p:cNvPr id="2" name="Title"/>
          <p:cNvSpPr txBox="1"/>
          <p:nvPr/>
        </p:nvSpPr>
        <p:spPr>
          <a:xfrm>
            <a:off x="540000" y="420000"/>
            <a:ext cx="8050000" cy="760000"/>
          </a:xfrm>
          <a:prstGeom prst="rect">
            <a:avLst/>
          </a:prstGeom>
          <a:noFill/>
        </p:spPr>
        <p:txBody>
          <a:bodyPr wrap="square"/>
          <a:lstStyle/>
          <a:p>
            <a:r>
              <a:rPr lang="en-US" sz="3900" b="1">
                <a:solidFill>
                  <a:srgbClr val="0F172A"/>
                </a:solidFill>
              </a:rPr>
              <a:t>Slide 16: Challenges</a:t>
            </a:r>
          </a:p>
        </p:txBody>
      </p:sp>
      <p:sp>
        <p:nvSpPr>
          <p:cNvPr id="3" name="Body"/>
          <p:cNvSpPr txBox="1"/>
          <p:nvPr/>
        </p:nvSpPr>
        <p:spPr>
          <a:xfrm>
            <a:off x="760000" y="1420000"/>
            <a:ext cx="7900000" cy="4600000"/>
          </a:xfrm>
          <a:prstGeom prst="roundRect">
            <a:avLst/>
          </a:prstGeom>
          <a:solidFill>
            <a:srgbClr val="FFFFFF"/>
          </a:solidFill>
          <a:ln w="16000">
            <a:solidFill>
              <a:srgbClr val="CDEBDD"/>
            </a:solidFill>
          </a:ln>
        </p:spPr>
        <p:txBody>
          <a:bodyPr wrap="square" lIns="260000" tIns="220000" rIns="260000" bIns="220000"/>
          <a:lstStyle/>
          <a:p>
            <a:pPr marL="220000" indent="-160000"/>
            <a:r>
              <a:rPr lang="en-US" sz="2350"/>
              <a:t>Main challenges during development:</a:t>
            </a:r>
          </a:p>
          <a:p>
            <a:pPr marL="220000" indent="-160000">
              <a:buChar char="•"/>
            </a:pPr>
            <a:r>
              <a:rPr lang="en-US" sz="2350"/>
              <a:t>Connecting Flutter frontend with FastAPI backend</a:t>
            </a:r>
          </a:p>
          <a:p>
            <a:pPr marL="220000" indent="-160000">
              <a:buChar char="•"/>
            </a:pPr>
            <a:r>
              <a:rPr lang="en-US" sz="2350"/>
              <a:t>Managing authenticated user data</a:t>
            </a:r>
          </a:p>
          <a:p>
            <a:pPr marL="220000" indent="-160000">
              <a:buChar char="•"/>
            </a:pPr>
            <a:r>
              <a:rPr lang="en-US" sz="2350"/>
              <a:t>Designing personalized meal recommendation logic</a:t>
            </a:r>
          </a:p>
          <a:p>
            <a:pPr marL="220000" indent="-160000">
              <a:buChar char="•"/>
            </a:pPr>
            <a:r>
              <a:rPr lang="en-US" sz="2350"/>
              <a:t>Handling allergies safely</a:t>
            </a:r>
          </a:p>
          <a:p>
            <a:pPr marL="220000" indent="-160000">
              <a:buChar char="•"/>
            </a:pPr>
            <a:r>
              <a:rPr lang="en-US" sz="2350"/>
              <a:t>Keeping dark mode readable</a:t>
            </a:r>
          </a:p>
          <a:p>
            <a:pPr marL="220000" indent="-160000">
              <a:buChar char="•"/>
            </a:pPr>
            <a:r>
              <a:rPr lang="en-US" sz="2350"/>
              <a:t>Making the system easy to run through Docker</a:t>
            </a:r>
          </a:p>
        </p:txBody>
      </p:sp>
      <p:sp>
        <p:nvSpPr>
          <p:cNvPr id="4" name="Footer"/>
          <p:cNvSpPr txBox="1"/>
          <p:nvPr/>
        </p:nvSpPr>
        <p:spPr>
          <a:xfrm>
            <a:off x="650000" y="6400000"/>
            <a:ext cx="7900000" cy="300000"/>
          </a:xfrm>
          <a:prstGeom prst="rect">
            <a:avLst/>
          </a:prstGeom>
          <a:noFill/>
        </p:spPr>
        <p:txBody>
          <a:bodyPr/>
          <a:lstStyle/>
          <a:p>
            <a:r>
              <a:rPr lang="en-US" sz="1200">
                <a:solidFill>
                  <a:srgbClr val="10B981"/>
                </a:solidFill>
              </a:rPr>
              <a:t>NutriAI • AI Nutrition and Meal Planner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BF8"/>
        </a:solidFill>
        <a:effectLst/>
      </p:bgPr>
    </p:bg>
    <p:spTree>
      <p:nvGrpSpPr>
        <p:cNvPr id="1" name=""/>
        <p:cNvGrpSpPr/>
        <p:nvPr/>
      </p:nvGrpSpPr>
      <p:grpSpPr>
        <a:xfrm>
          <a:off x="0" y="0"/>
          <a:ext cx="0" cy="0"/>
          <a:chOff x="0" y="0"/>
          <a:chExt cx="0" cy="0"/>
        </a:xfrm>
      </p:grpSpPr>
      <p:sp>
        <p:nvSpPr>
          <p:cNvPr id="2" name="Title"/>
          <p:cNvSpPr txBox="1"/>
          <p:nvPr/>
        </p:nvSpPr>
        <p:spPr>
          <a:xfrm>
            <a:off x="540000" y="420000"/>
            <a:ext cx="8050000" cy="760000"/>
          </a:xfrm>
          <a:prstGeom prst="rect">
            <a:avLst/>
          </a:prstGeom>
          <a:noFill/>
        </p:spPr>
        <p:txBody>
          <a:bodyPr wrap="square"/>
          <a:lstStyle/>
          <a:p>
            <a:r>
              <a:rPr lang="en-US" sz="3900" b="1">
                <a:solidFill>
                  <a:srgbClr val="0F172A"/>
                </a:solidFill>
              </a:rPr>
              <a:t>Slide 17: Future Improvements</a:t>
            </a:r>
          </a:p>
        </p:txBody>
      </p:sp>
      <p:sp>
        <p:nvSpPr>
          <p:cNvPr id="3" name="Body"/>
          <p:cNvSpPr txBox="1"/>
          <p:nvPr/>
        </p:nvSpPr>
        <p:spPr>
          <a:xfrm>
            <a:off x="760000" y="1420000"/>
            <a:ext cx="7900000" cy="4600000"/>
          </a:xfrm>
          <a:prstGeom prst="roundRect">
            <a:avLst/>
          </a:prstGeom>
          <a:solidFill>
            <a:srgbClr val="FFFFFF"/>
          </a:solidFill>
          <a:ln w="16000">
            <a:solidFill>
              <a:srgbClr val="CDEBDD"/>
            </a:solidFill>
          </a:ln>
        </p:spPr>
        <p:txBody>
          <a:bodyPr wrap="square" lIns="260000" tIns="220000" rIns="260000" bIns="220000"/>
          <a:lstStyle/>
          <a:p>
            <a:pPr marL="220000" indent="-160000"/>
            <a:r>
              <a:rPr lang="en-US" sz="2350"/>
              <a:t>Possible improvements:</a:t>
            </a:r>
          </a:p>
          <a:p>
            <a:pPr marL="220000" indent="-160000">
              <a:buChar char="•"/>
            </a:pPr>
            <a:r>
              <a:rPr lang="en-US" sz="2350"/>
              <a:t>Train a real food image recognition model</a:t>
            </a:r>
          </a:p>
          <a:p>
            <a:pPr marL="220000" indent="-160000">
              <a:buChar char="•"/>
            </a:pPr>
            <a:r>
              <a:rPr lang="en-US" sz="2350"/>
              <a:t>Add email/SMS OTP for real password recovery</a:t>
            </a:r>
          </a:p>
          <a:p>
            <a:pPr marL="220000" indent="-160000">
              <a:buChar char="•"/>
            </a:pPr>
            <a:r>
              <a:rPr lang="en-US" sz="2350"/>
              <a:t>Improve recommendation algorithm with machine learning</a:t>
            </a:r>
          </a:p>
          <a:p>
            <a:pPr marL="220000" indent="-160000">
              <a:buChar char="•"/>
            </a:pPr>
            <a:r>
              <a:rPr lang="en-US" sz="2350"/>
              <a:t>Add nutrition history charts</a:t>
            </a:r>
          </a:p>
          <a:p>
            <a:pPr marL="220000" indent="-160000">
              <a:buChar char="•"/>
            </a:pPr>
            <a:r>
              <a:rPr lang="en-US" sz="2350"/>
              <a:t>Support more Cambodian foods and prices</a:t>
            </a:r>
          </a:p>
          <a:p>
            <a:pPr marL="220000" indent="-160000">
              <a:buChar char="•"/>
            </a:pPr>
            <a:r>
              <a:rPr lang="en-US" sz="2350"/>
              <a:t>Add admin dashboard for food data management</a:t>
            </a:r>
          </a:p>
          <a:p>
            <a:pPr marL="220000" indent="-160000">
              <a:buChar char="•"/>
            </a:pPr>
            <a:r>
              <a:rPr lang="en-US" sz="2350"/>
              <a:t>Deploy online for public access</a:t>
            </a:r>
          </a:p>
        </p:txBody>
      </p:sp>
      <p:sp>
        <p:nvSpPr>
          <p:cNvPr id="4" name="Footer"/>
          <p:cNvSpPr txBox="1"/>
          <p:nvPr/>
        </p:nvSpPr>
        <p:spPr>
          <a:xfrm>
            <a:off x="650000" y="6400000"/>
            <a:ext cx="7900000" cy="300000"/>
          </a:xfrm>
          <a:prstGeom prst="rect">
            <a:avLst/>
          </a:prstGeom>
          <a:noFill/>
        </p:spPr>
        <p:txBody>
          <a:bodyPr/>
          <a:lstStyle/>
          <a:p>
            <a:r>
              <a:rPr lang="en-US" sz="1200">
                <a:solidFill>
                  <a:srgbClr val="10B981"/>
                </a:solidFill>
              </a:rPr>
              <a:t>NutriAI • AI Nutrition and Meal Planner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BF8"/>
        </a:solidFill>
        <a:effectLst/>
      </p:bgPr>
    </p:bg>
    <p:spTree>
      <p:nvGrpSpPr>
        <p:cNvPr id="1" name=""/>
        <p:cNvGrpSpPr/>
        <p:nvPr/>
      </p:nvGrpSpPr>
      <p:grpSpPr>
        <a:xfrm>
          <a:off x="0" y="0"/>
          <a:ext cx="0" cy="0"/>
          <a:chOff x="0" y="0"/>
          <a:chExt cx="0" cy="0"/>
        </a:xfrm>
      </p:grpSpPr>
      <p:sp>
        <p:nvSpPr>
          <p:cNvPr id="2" name="Title"/>
          <p:cNvSpPr txBox="1"/>
          <p:nvPr/>
        </p:nvSpPr>
        <p:spPr>
          <a:xfrm>
            <a:off x="540000" y="420000"/>
            <a:ext cx="8050000" cy="760000"/>
          </a:xfrm>
          <a:prstGeom prst="rect">
            <a:avLst/>
          </a:prstGeom>
          <a:noFill/>
        </p:spPr>
        <p:txBody>
          <a:bodyPr wrap="square"/>
          <a:lstStyle/>
          <a:p>
            <a:r>
              <a:rPr lang="en-US" sz="3900" b="1">
                <a:solidFill>
                  <a:srgbClr val="0F172A"/>
                </a:solidFill>
              </a:rPr>
              <a:t>Slide 18: Conclusion</a:t>
            </a:r>
          </a:p>
        </p:txBody>
      </p:sp>
      <p:sp>
        <p:nvSpPr>
          <p:cNvPr id="3" name="Body"/>
          <p:cNvSpPr txBox="1"/>
          <p:nvPr/>
        </p:nvSpPr>
        <p:spPr>
          <a:xfrm>
            <a:off x="760000" y="1420000"/>
            <a:ext cx="7900000" cy="4600000"/>
          </a:xfrm>
          <a:prstGeom prst="roundRect">
            <a:avLst/>
          </a:prstGeom>
          <a:solidFill>
            <a:srgbClr val="FFFFFF"/>
          </a:solidFill>
          <a:ln w="16000">
            <a:solidFill>
              <a:srgbClr val="CDEBDD"/>
            </a:solidFill>
          </a:ln>
        </p:spPr>
        <p:txBody>
          <a:bodyPr wrap="square" lIns="260000" tIns="220000" rIns="260000" bIns="220000"/>
          <a:lstStyle/>
          <a:p>
            <a:pPr marL="220000" indent="-160000"/>
            <a:r>
              <a:rPr lang="en-US" sz="2350"/>
              <a:t>NutriAI provides an integrated nutrition planning experience by combining:</a:t>
            </a:r>
          </a:p>
          <a:p>
            <a:pPr marL="220000" indent="-160000">
              <a:buChar char="•"/>
            </a:pPr>
            <a:r>
              <a:rPr lang="en-US" sz="2350"/>
              <a:t>Personal health profiles</a:t>
            </a:r>
          </a:p>
          <a:p>
            <a:pPr marL="220000" indent="-160000">
              <a:buChar char="•"/>
            </a:pPr>
            <a:r>
              <a:rPr lang="en-US" sz="2350"/>
              <a:t>Meal recommendation</a:t>
            </a:r>
          </a:p>
          <a:p>
            <a:pPr marL="220000" indent="-160000">
              <a:buChar char="•"/>
            </a:pPr>
            <a:r>
              <a:rPr lang="en-US" sz="2350"/>
              <a:t>Allergy-aware food filtering</a:t>
            </a:r>
          </a:p>
          <a:p>
            <a:pPr marL="220000" indent="-160000">
              <a:buChar char="•"/>
            </a:pPr>
            <a:r>
              <a:rPr lang="en-US" sz="2350"/>
              <a:t>Grocery planning</a:t>
            </a:r>
          </a:p>
          <a:p>
            <a:pPr marL="220000" indent="-160000">
              <a:buChar char="•"/>
            </a:pPr>
            <a:r>
              <a:rPr lang="en-US" sz="2350"/>
              <a:t>Nutrition tracking</a:t>
            </a:r>
          </a:p>
          <a:p>
            <a:pPr marL="220000" indent="-160000">
              <a:buChar char="•"/>
            </a:pPr>
            <a:r>
              <a:rPr lang="en-US" sz="2350"/>
              <a:t>AI-assisted guidance</a:t>
            </a:r>
          </a:p>
          <a:p>
            <a:pPr marL="220000" indent="-160000">
              <a:buChar char="•"/>
            </a:pPr>
            <a:r>
              <a:rPr lang="en-US" sz="2350"/>
              <a:t>Full-stack web architecture</a:t>
            </a:r>
          </a:p>
        </p:txBody>
      </p:sp>
      <p:sp>
        <p:nvSpPr>
          <p:cNvPr id="4" name="Footer"/>
          <p:cNvSpPr txBox="1"/>
          <p:nvPr/>
        </p:nvSpPr>
        <p:spPr>
          <a:xfrm>
            <a:off x="650000" y="6400000"/>
            <a:ext cx="7900000" cy="300000"/>
          </a:xfrm>
          <a:prstGeom prst="rect">
            <a:avLst/>
          </a:prstGeom>
          <a:noFill/>
        </p:spPr>
        <p:txBody>
          <a:bodyPr/>
          <a:lstStyle/>
          <a:p>
            <a:r>
              <a:rPr lang="en-US" sz="1200">
                <a:solidFill>
                  <a:srgbClr val="10B981"/>
                </a:solidFill>
              </a:rPr>
              <a:t>NutriAI • AI Nutrition and Meal Planner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BF8"/>
        </a:solidFill>
        <a:effectLst/>
      </p:bgPr>
    </p:bg>
    <p:spTree>
      <p:nvGrpSpPr>
        <p:cNvPr id="1" name=""/>
        <p:cNvGrpSpPr/>
        <p:nvPr/>
      </p:nvGrpSpPr>
      <p:grpSpPr>
        <a:xfrm>
          <a:off x="0" y="0"/>
          <a:ext cx="0" cy="0"/>
          <a:chOff x="0" y="0"/>
          <a:chExt cx="0" cy="0"/>
        </a:xfrm>
      </p:grpSpPr>
      <p:sp>
        <p:nvSpPr>
          <p:cNvPr id="2" name="Title"/>
          <p:cNvSpPr txBox="1"/>
          <p:nvPr/>
        </p:nvSpPr>
        <p:spPr>
          <a:xfrm>
            <a:off x="540000" y="420000"/>
            <a:ext cx="8050000" cy="760000"/>
          </a:xfrm>
          <a:prstGeom prst="rect">
            <a:avLst/>
          </a:prstGeom>
          <a:noFill/>
        </p:spPr>
        <p:txBody>
          <a:bodyPr wrap="square"/>
          <a:lstStyle/>
          <a:p>
            <a:r>
              <a:rPr lang="en-US" sz="3900" b="1">
                <a:solidFill>
                  <a:srgbClr val="0F172A"/>
                </a:solidFill>
              </a:rPr>
              <a:t>Optional Demo Flow</a:t>
            </a:r>
          </a:p>
        </p:txBody>
      </p:sp>
      <p:sp>
        <p:nvSpPr>
          <p:cNvPr id="3" name="Body"/>
          <p:cNvSpPr txBox="1"/>
          <p:nvPr/>
        </p:nvSpPr>
        <p:spPr>
          <a:xfrm>
            <a:off x="760000" y="1420000"/>
            <a:ext cx="7900000" cy="4600000"/>
          </a:xfrm>
          <a:prstGeom prst="roundRect">
            <a:avLst/>
          </a:prstGeom>
          <a:solidFill>
            <a:srgbClr val="FFFFFF"/>
          </a:solidFill>
          <a:ln w="16000">
            <a:solidFill>
              <a:srgbClr val="CDEBDD"/>
            </a:solidFill>
          </a:ln>
        </p:spPr>
        <p:txBody>
          <a:bodyPr wrap="square" lIns="260000" tIns="220000" rIns="260000" bIns="220000"/>
          <a:lstStyle/>
          <a:p>
            <a:pPr marL="220000" indent="-160000"/>
            <a:r>
              <a:rPr lang="en-US" sz="2350"/>
              <a:t>If you do a live demo, use this order:</a:t>
            </a:r>
          </a:p>
          <a:p>
            <a:pPr marL="220000" indent="-160000">
              <a:buChar char="•"/>
            </a:pPr>
            <a:r>
              <a:rPr lang="en-US" sz="2350"/>
              <a:t>1. Register or log in</a:t>
            </a:r>
          </a:p>
          <a:p>
            <a:pPr marL="220000" indent="-160000">
              <a:buChar char="•"/>
            </a:pPr>
            <a:r>
              <a:rPr lang="en-US" sz="2350"/>
              <a:t>2. Open Dashboard</a:t>
            </a:r>
          </a:p>
          <a:p>
            <a:pPr marL="220000" indent="-160000">
              <a:buChar char="•"/>
            </a:pPr>
            <a:r>
              <a:rPr lang="en-US" sz="2350"/>
              <a:t>3. Complete or show Profile</a:t>
            </a:r>
          </a:p>
          <a:p>
            <a:pPr marL="220000" indent="-160000">
              <a:buChar char="•"/>
            </a:pPr>
            <a:r>
              <a:rPr lang="en-US" sz="2350"/>
              <a:t>4. Search food database</a:t>
            </a:r>
          </a:p>
          <a:p>
            <a:pPr marL="220000" indent="-160000">
              <a:buChar char="•"/>
            </a:pPr>
            <a:r>
              <a:rPr lang="en-US" sz="2350"/>
              <a:t>5. Generate a meal plan</a:t>
            </a:r>
          </a:p>
          <a:p>
            <a:pPr marL="220000" indent="-160000">
              <a:buChar char="•"/>
            </a:pPr>
            <a:r>
              <a:rPr lang="en-US" sz="2350"/>
              <a:t>6. Export grocery list</a:t>
            </a:r>
          </a:p>
          <a:p>
            <a:pPr marL="220000" indent="-160000">
              <a:buChar char="•"/>
            </a:pPr>
            <a:r>
              <a:rPr lang="en-US" sz="2350"/>
              <a:t>7. Log food</a:t>
            </a:r>
          </a:p>
          <a:p>
            <a:pPr marL="220000" indent="-160000">
              <a:buChar char="•"/>
            </a:pPr>
            <a:r>
              <a:rPr lang="en-US" sz="2350"/>
              <a:t>8. Show Progress</a:t>
            </a:r>
          </a:p>
        </p:txBody>
      </p:sp>
      <p:sp>
        <p:nvSpPr>
          <p:cNvPr id="4" name="Footer"/>
          <p:cNvSpPr txBox="1"/>
          <p:nvPr/>
        </p:nvSpPr>
        <p:spPr>
          <a:xfrm>
            <a:off x="650000" y="6400000"/>
            <a:ext cx="7900000" cy="300000"/>
          </a:xfrm>
          <a:prstGeom prst="rect">
            <a:avLst/>
          </a:prstGeom>
          <a:noFill/>
        </p:spPr>
        <p:txBody>
          <a:bodyPr/>
          <a:lstStyle/>
          <a:p>
            <a:r>
              <a:rPr lang="en-US" sz="1200">
                <a:solidFill>
                  <a:srgbClr val="10B981"/>
                </a:solidFill>
              </a:rPr>
              <a:t>NutriAI • AI Nutrition and Meal Planner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BF8"/>
        </a:solidFill>
        <a:effectLst/>
      </p:bgPr>
    </p:bg>
    <p:spTree>
      <p:nvGrpSpPr>
        <p:cNvPr id="1" name=""/>
        <p:cNvGrpSpPr/>
        <p:nvPr/>
      </p:nvGrpSpPr>
      <p:grpSpPr>
        <a:xfrm>
          <a:off x="0" y="0"/>
          <a:ext cx="0" cy="0"/>
          <a:chOff x="0" y="0"/>
          <a:chExt cx="0" cy="0"/>
        </a:xfrm>
      </p:grpSpPr>
      <p:sp>
        <p:nvSpPr>
          <p:cNvPr id="2" name="Title"/>
          <p:cNvSpPr txBox="1"/>
          <p:nvPr/>
        </p:nvSpPr>
        <p:spPr>
          <a:xfrm>
            <a:off x="540000" y="420000"/>
            <a:ext cx="8050000" cy="760000"/>
          </a:xfrm>
          <a:prstGeom prst="rect">
            <a:avLst/>
          </a:prstGeom>
          <a:noFill/>
        </p:spPr>
        <p:txBody>
          <a:bodyPr wrap="square"/>
          <a:lstStyle/>
          <a:p>
            <a:r>
              <a:rPr lang="en-US" sz="3900" b="1">
                <a:solidFill>
                  <a:srgbClr val="0F172A"/>
                </a:solidFill>
              </a:rPr>
              <a:t>Short Presentation Script</a:t>
            </a:r>
          </a:p>
        </p:txBody>
      </p:sp>
      <p:sp>
        <p:nvSpPr>
          <p:cNvPr id="3" name="Body"/>
          <p:cNvSpPr txBox="1"/>
          <p:nvPr/>
        </p:nvSpPr>
        <p:spPr>
          <a:xfrm>
            <a:off x="760000" y="1420000"/>
            <a:ext cx="7900000" cy="4600000"/>
          </a:xfrm>
          <a:prstGeom prst="roundRect">
            <a:avLst/>
          </a:prstGeom>
          <a:solidFill>
            <a:srgbClr val="FFFFFF"/>
          </a:solidFill>
          <a:ln w="16000">
            <a:solidFill>
              <a:srgbClr val="CDEBDD"/>
            </a:solidFill>
          </a:ln>
        </p:spPr>
        <p:txBody>
          <a:bodyPr wrap="square" lIns="260000" tIns="220000" rIns="260000" bIns="220000"/>
          <a:lstStyle/>
          <a:p>
            <a:pPr marL="220000" indent="-160000"/>
            <a:r>
              <a:rPr lang="en-US" sz="2350"/>
              <a:t>Good morning/afternoon everyone. Today I will present my project, NutriAI, an AI nutrition and meal planner.</a:t>
            </a:r>
          </a:p>
          <a:p>
            <a:pPr marL="220000" indent="-160000">
              <a:buChar char="•"/>
            </a:pPr>
            <a:r>
              <a:rPr lang="en-US" sz="2350"/>
              <a:t>The problem I wanted to solve is that healthy meal planning is difficult because users need to think about calories, macronutrients, allergies, preferences, and budget at the same time. Many tools only focus on one part of the problem, so I built NutriAI as one integrated platform.</a:t>
            </a:r>
          </a:p>
          <a:p>
            <a:pPr marL="220000" indent="-160000">
              <a:buChar char="•"/>
            </a:pPr>
            <a:r>
              <a:rPr lang="en-US" sz="2350"/>
              <a:t>The system allows users to create an account, complete a health profile, calculate BMI and calorie targets, manage allergies, generate meal plans, create grocery lists, log food, track water and weight, and ask nutrition-related questions through an AI assistant.</a:t>
            </a:r>
          </a:p>
          <a:p>
            <a:pPr marL="220000" indent="-160000">
              <a:buChar char="•"/>
            </a:pPr>
            <a:r>
              <a:rPr lang="en-US" sz="2350"/>
              <a:t>Technically, NutriAI is a full-stack application. The frontend is built with Flutter. The backend uses Python FastAPI, and the database is PostgreSQL. The system uses JWT authentication so each user can access only their own data. Docker Compose is used to run the frontend, backend, and database together.</a:t>
            </a:r>
          </a:p>
          <a:p>
            <a:pPr marL="220000" indent="-160000">
              <a:buChar char="•"/>
            </a:pPr>
            <a:r>
              <a:rPr lang="en-US" sz="2350"/>
              <a:t>The main intelligent feature is the meal recommendation service. It loads available foods, removes foods that conflict with allergies, applies user preferences, builds possible combinations, scores them against calorie, macro, category, and budget targets, then selects the best matching meal.</a:t>
            </a:r>
          </a:p>
          <a:p>
            <a:pPr marL="220000" indent="-160000">
              <a:buChar char="•"/>
            </a:pPr>
            <a:r>
              <a:rPr lang="en-US" sz="2350"/>
              <a:t>This project also includes AI-assisted services such as food substitute suggestions, health-risk screening, calorie recommendation, chatbot support, and food-photo assistance. For safety, the health-related outputs are educational and not medical diagnosis.</a:t>
            </a:r>
          </a:p>
          <a:p>
            <a:pPr marL="220000" indent="-160000">
              <a:buChar char="•"/>
            </a:pPr>
            <a:r>
              <a:rPr lang="en-US" sz="2350"/>
              <a:t>During development, I also improved the user interface with dark mode, hover effects, clickable quick actions, and better color contrast. Testing was used to verify navigation, authentication, dark mode readability, and UI behavior.</a:t>
            </a:r>
          </a:p>
          <a:p>
            <a:pPr marL="220000" indent="-160000">
              <a:buChar char="•"/>
            </a:pPr>
            <a:r>
              <a:rPr lang="en-US" sz="2350"/>
              <a:t>In conclusion, NutriAI combines meal planning, nutrition tracking, allergy management, grocery planning, and AI guidance into one practical system. In the future, it could be improved with a trained food image recognition model, real email OTP, more food data, and online deployment.</a:t>
            </a:r>
          </a:p>
          <a:p>
            <a:pPr marL="220000" indent="-160000">
              <a:buChar char="•"/>
            </a:pPr>
            <a:r>
              <a:rPr lang="en-US" sz="2350"/>
              <a:t>Thank you.</a:t>
            </a:r>
          </a:p>
        </p:txBody>
      </p:sp>
      <p:sp>
        <p:nvSpPr>
          <p:cNvPr id="4" name="Footer"/>
          <p:cNvSpPr txBox="1"/>
          <p:nvPr/>
        </p:nvSpPr>
        <p:spPr>
          <a:xfrm>
            <a:off x="650000" y="6400000"/>
            <a:ext cx="7900000" cy="300000"/>
          </a:xfrm>
          <a:prstGeom prst="rect">
            <a:avLst/>
          </a:prstGeom>
          <a:noFill/>
        </p:spPr>
        <p:txBody>
          <a:bodyPr/>
          <a:lstStyle/>
          <a:p>
            <a:r>
              <a:rPr lang="en-US" sz="1200">
                <a:solidFill>
                  <a:srgbClr val="10B981"/>
                </a:solidFill>
              </a:rPr>
              <a:t>NutriAI • AI Nutrition and Meal Planner • 21</a:t>
            </a:r>
          </a:p>
        </p:txBody>
      </p:sp>
    </p:spTree>
  </p:cSld>
  <p:clrMapOvr>
    <a:masterClrMapping/>
  </p:clrMapOvr>
</p:sld>
</file>

<file path=ppt/theme/theme1.xml><?xml version="1.0" encoding="utf-8"?>
<a:theme xmlns:a="http://schemas.openxmlformats.org/drawingml/2006/main" name="NutriAI Theme">
  <a:themeElements>
    <a:clrScheme name="NutriAI">
      <a:dk1>
        <a:srgbClr val="0F172A"/>
      </a:dk1>
      <a:lt1>
        <a:srgbClr val="FFFFFF"/>
      </a:lt1>
      <a:dk2>
        <a:srgbClr val="065F46"/>
      </a:dk2>
      <a:lt2>
        <a:srgbClr val="ECFDF5"/>
      </a:lt2>
      <a:accent1>
        <a:srgbClr val="10B981"/>
      </a:accent1>
      <a:accent2>
        <a:srgbClr val="3B82F6"/>
      </a:accent2>
      <a:accent3>
        <a:srgbClr val="F59E0B"/>
      </a:accent3>
      <a:accent4>
        <a:srgbClr val="EF4444"/>
      </a:accent4>
      <a:accent5>
        <a:srgbClr val="8B5CF6"/>
      </a:accent5>
      <a:accent6>
        <a:srgbClr val="14B8A6"/>
      </a:accent6>
      <a:hlink>
        <a:srgbClr val="2563EB"/>
      </a:hlink>
      <a:folHlink>
        <a:srgbClr val="7C3AED"/>
      </a:folHlink>
    </a:clrScheme>
    <a:fontScheme name="NutriAI Fonts">
      <a:majorFont>
        <a:latin typeface="Aptos Display"/>
      </a:majorFont>
      <a:minorFont>
        <a:latin typeface="Aptos"/>
      </a:minorFont>
    </a:fontScheme>
    <a:fmtScheme name="NutriAI Format">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theme>
</file>