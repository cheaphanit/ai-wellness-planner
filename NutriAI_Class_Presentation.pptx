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
  <Relationship Id="rId13" Type="http://schemas.openxmlformats.org/officeDocument/2006/relationships/theme" Target="theme/them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F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3F31"/>
          </a:solidFill>
          <a:ln>
            <a:noFill/>
          </a:ln>
        </p:spPr>
      </p:sp>
      <p:sp>
        <p:nvSpPr>
          <p:cNvPr id="3" name="Glow 1"/>
          <p:cNvSpPr/>
          <p:nvPr/>
        </p:nvSpPr>
        <p:spPr>
          <a:xfrm>
            <a:off x="8880000" y="-900000"/>
            <a:ext cx="4100000" cy="4100000"/>
          </a:xfrm>
          <a:prstGeom prst="roundRect">
            <a:avLst/>
          </a:prstGeom>
          <a:solidFill>
            <a:srgbClr val="0D5B45"/>
          </a:solidFill>
          <a:ln>
            <a:noFill/>
          </a:ln>
        </p:spPr>
      </p:sp>
      <p:sp>
        <p:nvSpPr>
          <p:cNvPr id="4" name="Glow 2"/>
          <p:cNvSpPr/>
          <p:nvPr/>
        </p:nvSpPr>
        <p:spPr>
          <a:xfrm>
            <a:off x="10100000" y="3900000"/>
            <a:ext cx="2700000" cy="2700000"/>
          </a:xfrm>
          <a:prstGeom prst="roundRect">
            <a:avLst/>
          </a:prstGeom>
          <a:solidFill>
            <a:srgbClr val="087A4D"/>
          </a:solidFill>
          <a:ln>
            <a:noFill/>
          </a:ln>
        </p:spPr>
      </p:sp>
      <p:sp>
        <p:nvSpPr>
          <p:cNvPr id="5" name="Logo"/>
          <p:cNvSpPr/>
          <p:nvPr/>
        </p:nvSpPr>
        <p:spPr>
          <a:xfrm>
            <a:off x="690000" y="590000"/>
            <a:ext cx="650000" cy="65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2650" b="1" typeface="Aptos">
                <a:solidFill>
                  <a:srgbClr val="FFFFFF"/>
                </a:solidFill>
              </a:rPr>
              <a:t>N</a:t>
            </a:r>
            <a:endParaRPr lang="en-US" sz="2650"/>
          </a:p>
        </p:txBody>
      </p:sp>
      <p:sp>
        <p:nvSpPr>
          <p:cNvPr id="6" name="Kicker"/>
          <p:cNvSpPr txBox="1"/>
          <p:nvPr/>
        </p:nvSpPr>
        <p:spPr>
          <a:xfrm>
            <a:off x="690000" y="1590000"/>
            <a:ext cx="4500000" cy="3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150" b="1" typeface="Aptos">
                <a:solidFill>
                  <a:srgbClr val="74D5AC"/>
                </a:solidFill>
              </a:rPr>
              <a:t>CLASS PRESENTATION</a:t>
            </a:r>
            <a:endParaRPr lang="en-US" sz="1150"/>
          </a:p>
        </p:txBody>
      </p:sp>
      <p:sp>
        <p:nvSpPr>
          <p:cNvPr id="7" name="Title"/>
          <p:cNvSpPr txBox="1"/>
          <p:nvPr/>
        </p:nvSpPr>
        <p:spPr>
          <a:xfrm>
            <a:off x="690000" y="2090000"/>
            <a:ext cx="7300000" cy="11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5600" b="1" typeface="Aptos">
                <a:solidFill>
                  <a:srgbClr val="FFFFFF"/>
                </a:solidFill>
              </a:rPr>
              <a:t>NutriAI</a:t>
            </a:r>
            <a:endParaRPr lang="en-US" sz="5600"/>
          </a:p>
        </p:txBody>
      </p:sp>
      <p:sp>
        <p:nvSpPr>
          <p:cNvPr id="8" name="Subtitle"/>
          <p:cNvSpPr txBox="1"/>
          <p:nvPr/>
        </p:nvSpPr>
        <p:spPr>
          <a:xfrm>
            <a:off x="700000" y="3300000"/>
            <a:ext cx="6500000" cy="6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600" b="0" typeface="Aptos">
                <a:solidFill>
                  <a:srgbClr val="CFEBDD"/>
                </a:solidFill>
              </a:rPr>
              <a:t>AI Nutrition and Meal Planner</a:t>
            </a:r>
            <a:endParaRPr lang="en-US" sz="2600"/>
          </a:p>
        </p:txBody>
      </p:sp>
      <p:sp>
        <p:nvSpPr>
          <p:cNvPr id="9" name="Tag"/>
          <p:cNvSpPr/>
          <p:nvPr/>
        </p:nvSpPr>
        <p:spPr>
          <a:xfrm>
            <a:off x="700000" y="4150000"/>
            <a:ext cx="4800000" cy="640000"/>
          </a:xfrm>
          <a:prstGeom prst="roundRect">
            <a:avLst/>
          </a:prstGeom>
          <a:solidFill>
            <a:srgbClr val="0B513E"/>
          </a:solidFill>
          <a:ln w="12000">
            <a:solidFill>
              <a:srgbClr val="23795B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FFFFFF"/>
                </a:solidFill>
              </a:rPr>
              <a:t>Personalized meals  •  Safer choices  •  Smarter tracking</a:t>
            </a:r>
            <a:endParaRPr lang="en-US" sz="1350"/>
          </a:p>
        </p:txBody>
      </p:sp>
      <p:sp>
        <p:nvSpPr>
          <p:cNvPr id="10" name="Meta 0"/>
          <p:cNvSpPr txBox="1"/>
          <p:nvPr/>
        </p:nvSpPr>
        <p:spPr>
          <a:xfrm>
            <a:off x="700000" y="576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B9D8C9"/>
                </a:solidFill>
              </a:rPr>
              <a:t>Presented by: Your Name</a:t>
            </a:r>
            <a:endParaRPr lang="en-US" sz="1050"/>
          </a:p>
        </p:txBody>
      </p:sp>
      <p:sp>
        <p:nvSpPr>
          <p:cNvPr id="11" name="Meta 1"/>
          <p:cNvSpPr txBox="1"/>
          <p:nvPr/>
        </p:nvSpPr>
        <p:spPr>
          <a:xfrm>
            <a:off x="3150000" y="576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0" typeface="Aptos">
                <a:solidFill>
                  <a:srgbClr val="B9D8C9"/>
                </a:solidFill>
              </a:rPr>
              <a:t>Course: Your Course Name</a:t>
            </a:r>
            <a:endParaRPr lang="en-US" sz="1050"/>
          </a:p>
        </p:txBody>
      </p:sp>
      <p:sp>
        <p:nvSpPr>
          <p:cNvPr id="12" name="Meta 2"/>
          <p:cNvSpPr txBox="1"/>
          <p:nvPr/>
        </p:nvSpPr>
        <p:spPr>
          <a:xfrm>
            <a:off x="5600000" y="576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0" typeface="Aptos">
                <a:solidFill>
                  <a:srgbClr val="B9D8C9"/>
                </a:solidFill>
              </a:rPr>
              <a:t>June 2026</a:t>
            </a:r>
            <a:endParaRPr lang="en-US" sz="10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PROJECT OVERVIEW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A full-stack AI nutrition planning system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02</a:t>
            </a:r>
            <a:endParaRPr lang="en-US" sz="850"/>
          </a:p>
        </p:txBody>
      </p:sp>
      <p:sp>
        <p:nvSpPr>
          <p:cNvPr id="10" name="Grid card 0"/>
          <p:cNvSpPr/>
          <p:nvPr/>
        </p:nvSpPr>
        <p:spPr>
          <a:xfrm>
            <a:off x="62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1" name="Grid icon 0"/>
          <p:cNvSpPr/>
          <p:nvPr/>
        </p:nvSpPr>
        <p:spPr>
          <a:xfrm>
            <a:off x="850000" y="1840000"/>
            <a:ext cx="520000" cy="520000"/>
          </a:xfrm>
          <a:prstGeom prst="roundRect">
            <a:avLst/>
          </a:prstGeom>
          <a:solidFill>
            <a:srgbClr val="EAF8F1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13A66A"/>
                </a:solidFill>
              </a:rPr>
              <a:t>F</a:t>
            </a:r>
            <a:endParaRPr lang="en-US" sz="1600"/>
          </a:p>
        </p:txBody>
      </p:sp>
      <p:sp>
        <p:nvSpPr>
          <p:cNvPr id="12" name="Grid text 0"/>
          <p:cNvSpPr txBox="1"/>
          <p:nvPr/>
        </p:nvSpPr>
        <p:spPr>
          <a:xfrm>
            <a:off x="152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Full stack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Flutter frontend and FastAPI backend</a:t>
            </a:r>
            <a:endParaRPr lang="en-US" sz="1100"/>
          </a:p>
        </p:txBody>
      </p:sp>
      <p:sp>
        <p:nvSpPr>
          <p:cNvPr id="13" name="Grid card 1"/>
          <p:cNvSpPr/>
          <p:nvPr/>
        </p:nvSpPr>
        <p:spPr>
          <a:xfrm>
            <a:off x="440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4" name="Grid icon 1"/>
          <p:cNvSpPr/>
          <p:nvPr/>
        </p:nvSpPr>
        <p:spPr>
          <a:xfrm>
            <a:off x="4630000" y="1840000"/>
            <a:ext cx="520000" cy="520000"/>
          </a:xfrm>
          <a:prstGeom prst="roundRect">
            <a:avLst/>
          </a:prstGeom>
          <a:solidFill>
            <a:srgbClr val="EAF1F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3D7BFA"/>
                </a:solidFill>
              </a:rPr>
              <a:t>P</a:t>
            </a:r>
            <a:endParaRPr lang="en-US" sz="1600"/>
          </a:p>
        </p:txBody>
      </p:sp>
      <p:sp>
        <p:nvSpPr>
          <p:cNvPr id="15" name="Grid text 1"/>
          <p:cNvSpPr txBox="1"/>
          <p:nvPr/>
        </p:nvSpPr>
        <p:spPr>
          <a:xfrm>
            <a:off x="530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Personalized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Uses profile, goals, allergies and preferences</a:t>
            </a:r>
            <a:endParaRPr lang="en-US" sz="1100"/>
          </a:p>
        </p:txBody>
      </p:sp>
      <p:sp>
        <p:nvSpPr>
          <p:cNvPr id="16" name="Grid card 2"/>
          <p:cNvSpPr/>
          <p:nvPr/>
        </p:nvSpPr>
        <p:spPr>
          <a:xfrm>
            <a:off x="818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7" name="Grid icon 2"/>
          <p:cNvSpPr/>
          <p:nvPr/>
        </p:nvSpPr>
        <p:spPr>
          <a:xfrm>
            <a:off x="8410000" y="1840000"/>
            <a:ext cx="520000" cy="520000"/>
          </a:xfrm>
          <a:prstGeom prst="roundRect">
            <a:avLst/>
          </a:prstGeom>
          <a:solidFill>
            <a:srgbClr val="FFF4D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F4A629"/>
                </a:solidFill>
              </a:rPr>
              <a:t>A</a:t>
            </a:r>
            <a:endParaRPr lang="en-US" sz="1600"/>
          </a:p>
        </p:txBody>
      </p:sp>
      <p:sp>
        <p:nvSpPr>
          <p:cNvPr id="18" name="Grid text 2"/>
          <p:cNvSpPr txBox="1"/>
          <p:nvPr/>
        </p:nvSpPr>
        <p:spPr>
          <a:xfrm>
            <a:off x="908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Actionable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Turns plans into grocery and tracking workflows</a:t>
            </a:r>
            <a:endParaRPr lang="en-US" sz="1100"/>
          </a:p>
        </p:txBody>
      </p:sp>
      <p:sp>
        <p:nvSpPr>
          <p:cNvPr id="19" name="Grid card 3"/>
          <p:cNvSpPr/>
          <p:nvPr/>
        </p:nvSpPr>
        <p:spPr>
          <a:xfrm>
            <a:off x="62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0" name="Grid icon 3"/>
          <p:cNvSpPr/>
          <p:nvPr/>
        </p:nvSpPr>
        <p:spPr>
          <a:xfrm>
            <a:off x="850000" y="4020000"/>
            <a:ext cx="520000" cy="520000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7867E8"/>
                </a:solidFill>
              </a:rPr>
              <a:t>H</a:t>
            </a:r>
            <a:endParaRPr lang="en-US" sz="1600"/>
          </a:p>
        </p:txBody>
      </p:sp>
      <p:sp>
        <p:nvSpPr>
          <p:cNvPr id="21" name="Grid text 3"/>
          <p:cNvSpPr txBox="1"/>
          <p:nvPr/>
        </p:nvSpPr>
        <p:spPr>
          <a:xfrm>
            <a:off x="152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Hybrid AI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Combines scoring, rules, formulas and optional LLMs</a:t>
            </a:r>
            <a:endParaRPr lang="en-US" sz="1100"/>
          </a:p>
        </p:txBody>
      </p:sp>
      <p:sp>
        <p:nvSpPr>
          <p:cNvPr id="22" name="Grid card 4"/>
          <p:cNvSpPr/>
          <p:nvPr/>
        </p:nvSpPr>
        <p:spPr>
          <a:xfrm>
            <a:off x="440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3" name="Grid icon 4"/>
          <p:cNvSpPr/>
          <p:nvPr/>
        </p:nvSpPr>
        <p:spPr>
          <a:xfrm>
            <a:off x="4630000" y="4020000"/>
            <a:ext cx="520000" cy="520000"/>
          </a:xfrm>
          <a:prstGeom prst="roundRect">
            <a:avLst/>
          </a:prstGeom>
          <a:solidFill>
            <a:srgbClr val="FFF0EE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EE6B62"/>
                </a:solidFill>
              </a:rPr>
              <a:t>L</a:t>
            </a:r>
            <a:endParaRPr lang="en-US" sz="1600"/>
          </a:p>
        </p:txBody>
      </p:sp>
      <p:sp>
        <p:nvSpPr>
          <p:cNvPr id="24" name="Grid text 4"/>
          <p:cNvSpPr txBox="1"/>
          <p:nvPr/>
        </p:nvSpPr>
        <p:spPr>
          <a:xfrm>
            <a:off x="530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Local foods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Includes Cambodian and familiar food options</a:t>
            </a:r>
            <a:endParaRPr lang="en-US" sz="1100"/>
          </a:p>
        </p:txBody>
      </p:sp>
      <p:sp>
        <p:nvSpPr>
          <p:cNvPr id="25" name="Grid card 5"/>
          <p:cNvSpPr/>
          <p:nvPr/>
        </p:nvSpPr>
        <p:spPr>
          <a:xfrm>
            <a:off x="818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6" name="Grid icon 5"/>
          <p:cNvSpPr/>
          <p:nvPr/>
        </p:nvSpPr>
        <p:spPr>
          <a:xfrm>
            <a:off x="8410000" y="4020000"/>
            <a:ext cx="520000" cy="520000"/>
          </a:xfrm>
          <a:prstGeom prst="roundRect">
            <a:avLst/>
          </a:prstGeom>
          <a:solidFill>
            <a:srgbClr val="D7F2E5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087A4D"/>
                </a:solidFill>
              </a:rPr>
              <a:t>D</a:t>
            </a:r>
            <a:endParaRPr lang="en-US" sz="1600"/>
          </a:p>
        </p:txBody>
      </p:sp>
      <p:sp>
        <p:nvSpPr>
          <p:cNvPr id="27" name="Grid text 5"/>
          <p:cNvSpPr txBox="1"/>
          <p:nvPr/>
        </p:nvSpPr>
        <p:spPr>
          <a:xfrm>
            <a:off x="908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Docker ready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Runs with PostgreSQL, backend and web frontend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PROBLEM STATEMENT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Healthy meal planning has too many moving parts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03</a:t>
            </a:r>
            <a:endParaRPr lang="en-US" sz="850"/>
          </a:p>
        </p:txBody>
      </p:sp>
      <p:sp>
        <p:nvSpPr>
          <p:cNvPr id="10" name="Card 0"/>
          <p:cNvSpPr/>
          <p:nvPr/>
        </p:nvSpPr>
        <p:spPr>
          <a:xfrm>
            <a:off x="620000" y="1660000"/>
            <a:ext cx="3370000" cy="371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1" name="Number 0"/>
          <p:cNvSpPr/>
          <p:nvPr/>
        </p:nvSpPr>
        <p:spPr>
          <a:xfrm>
            <a:off x="870000" y="1930000"/>
            <a:ext cx="620000" cy="620000"/>
          </a:xfrm>
          <a:prstGeom prst="roundRect">
            <a:avLst/>
          </a:prstGeom>
          <a:solidFill>
            <a:srgbClr val="EAF8F1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3A66A"/>
                </a:solidFill>
              </a:rPr>
              <a:t>01</a:t>
            </a:r>
            <a:endParaRPr lang="en-US" sz="1500"/>
          </a:p>
        </p:txBody>
      </p:sp>
      <p:sp>
        <p:nvSpPr>
          <p:cNvPr id="12" name="Card text 0"/>
          <p:cNvSpPr txBox="1"/>
          <p:nvPr/>
        </p:nvSpPr>
        <p:spPr>
          <a:xfrm>
            <a:off x="870000" y="2820000"/>
            <a:ext cx="2850000" cy="1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100" b="1" typeface="Aptos">
                <a:solidFill>
                  <a:srgbClr val="10231B"/>
                </a:solidFill>
              </a:rPr>
              <a:t>Complex targets</a:t>
            </a:r>
            <a:endParaRPr lang="en-US" sz="2100"/>
          </a:p>
          <a:p>
            <a:pPr algn="l">
              <a:spcAft>
                <a:spcPts val="500"/>
              </a:spcAft>
              <a:buNone/>
            </a:pPr>
            <a:r>
              <a:rPr lang="en-US" sz="1450" b="0" typeface="Aptos">
                <a:solidFill>
                  <a:srgbClr val="60706A"/>
                </a:solidFill>
              </a:rPr>
              <a:t>Users must balance calories, macros, activity and health goals.</a:t>
            </a:r>
            <a:endParaRPr lang="en-US" sz="1450"/>
          </a:p>
        </p:txBody>
      </p:sp>
      <p:sp>
        <p:nvSpPr>
          <p:cNvPr id="13" name="Card 1"/>
          <p:cNvSpPr/>
          <p:nvPr/>
        </p:nvSpPr>
        <p:spPr>
          <a:xfrm>
            <a:off x="4390000" y="1660000"/>
            <a:ext cx="3370000" cy="371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4" name="Number 1"/>
          <p:cNvSpPr/>
          <p:nvPr/>
        </p:nvSpPr>
        <p:spPr>
          <a:xfrm>
            <a:off x="4640000" y="1930000"/>
            <a:ext cx="620000" cy="620000"/>
          </a:xfrm>
          <a:prstGeom prst="roundRect">
            <a:avLst/>
          </a:prstGeom>
          <a:solidFill>
            <a:srgbClr val="EAF1F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3D7BFA"/>
                </a:solidFill>
              </a:rPr>
              <a:t>02</a:t>
            </a:r>
            <a:endParaRPr lang="en-US" sz="1500"/>
          </a:p>
        </p:txBody>
      </p:sp>
      <p:sp>
        <p:nvSpPr>
          <p:cNvPr id="15" name="Card text 1"/>
          <p:cNvSpPr txBox="1"/>
          <p:nvPr/>
        </p:nvSpPr>
        <p:spPr>
          <a:xfrm>
            <a:off x="4640000" y="2820000"/>
            <a:ext cx="2850000" cy="1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100" b="1" typeface="Aptos">
                <a:solidFill>
                  <a:srgbClr val="10231B"/>
                </a:solidFill>
              </a:rPr>
              <a:t>Safety risk</a:t>
            </a:r>
            <a:endParaRPr lang="en-US" sz="2100"/>
          </a:p>
          <a:p>
            <a:pPr algn="l">
              <a:spcAft>
                <a:spcPts val="500"/>
              </a:spcAft>
              <a:buNone/>
            </a:pPr>
            <a:r>
              <a:rPr lang="en-US" sz="1450" b="0" typeface="Aptos">
                <a:solidFill>
                  <a:srgbClr val="60706A"/>
                </a:solidFill>
              </a:rPr>
              <a:t>Generic plans can recommend unsafe foods for allergies.</a:t>
            </a:r>
            <a:endParaRPr lang="en-US" sz="1450"/>
          </a:p>
        </p:txBody>
      </p:sp>
      <p:sp>
        <p:nvSpPr>
          <p:cNvPr id="16" name="Card 2"/>
          <p:cNvSpPr/>
          <p:nvPr/>
        </p:nvSpPr>
        <p:spPr>
          <a:xfrm>
            <a:off x="8160000" y="1660000"/>
            <a:ext cx="3370000" cy="371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7" name="Number 2"/>
          <p:cNvSpPr/>
          <p:nvPr/>
        </p:nvSpPr>
        <p:spPr>
          <a:xfrm>
            <a:off x="8410000" y="1930000"/>
            <a:ext cx="620000" cy="620000"/>
          </a:xfrm>
          <a:prstGeom prst="roundRect">
            <a:avLst/>
          </a:prstGeom>
          <a:solidFill>
            <a:srgbClr val="FFF4D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F4A629"/>
                </a:solidFill>
              </a:rPr>
              <a:t>03</a:t>
            </a:r>
            <a:endParaRPr lang="en-US" sz="1500"/>
          </a:p>
        </p:txBody>
      </p:sp>
      <p:sp>
        <p:nvSpPr>
          <p:cNvPr id="18" name="Card text 2"/>
          <p:cNvSpPr txBox="1"/>
          <p:nvPr/>
        </p:nvSpPr>
        <p:spPr>
          <a:xfrm>
            <a:off x="8410000" y="2820000"/>
            <a:ext cx="2850000" cy="19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100" b="1" typeface="Aptos">
                <a:solidFill>
                  <a:srgbClr val="10231B"/>
                </a:solidFill>
              </a:rPr>
              <a:t>Disconnected tools</a:t>
            </a:r>
            <a:endParaRPr lang="en-US" sz="2100"/>
          </a:p>
          <a:p>
            <a:pPr algn="l">
              <a:spcAft>
                <a:spcPts val="500"/>
              </a:spcAft>
              <a:buNone/>
            </a:pPr>
            <a:r>
              <a:rPr lang="en-US" sz="1450" b="0" typeface="Aptos">
                <a:solidFill>
                  <a:srgbClr val="60706A"/>
                </a:solidFill>
              </a:rPr>
              <a:t>Planning, shopping and tracking are often separated.</a:t>
            </a:r>
            <a:endParaRPr lang="en-US" sz="14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PROPOSED SOLUTION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NutriAI connects the complete daily nutrition workflow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04</a:t>
            </a:r>
            <a:endParaRPr lang="en-US" sz="850"/>
          </a:p>
        </p:txBody>
      </p:sp>
      <p:sp>
        <p:nvSpPr>
          <p:cNvPr id="10" name="Grid card 0"/>
          <p:cNvSpPr/>
          <p:nvPr/>
        </p:nvSpPr>
        <p:spPr>
          <a:xfrm>
            <a:off x="62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1" name="Grid icon 0"/>
          <p:cNvSpPr/>
          <p:nvPr/>
        </p:nvSpPr>
        <p:spPr>
          <a:xfrm>
            <a:off x="850000" y="1840000"/>
            <a:ext cx="520000" cy="520000"/>
          </a:xfrm>
          <a:prstGeom prst="roundRect">
            <a:avLst/>
          </a:prstGeom>
          <a:solidFill>
            <a:srgbClr val="EAF8F1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13A66A"/>
                </a:solidFill>
              </a:rPr>
              <a:t>P</a:t>
            </a:r>
            <a:endParaRPr lang="en-US" sz="1600"/>
          </a:p>
        </p:txBody>
      </p:sp>
      <p:sp>
        <p:nvSpPr>
          <p:cNvPr id="12" name="Grid text 0"/>
          <p:cNvSpPr txBox="1"/>
          <p:nvPr/>
        </p:nvSpPr>
        <p:spPr>
          <a:xfrm>
            <a:off x="152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Profile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Collect body data, activity and goal</a:t>
            </a:r>
            <a:endParaRPr lang="en-US" sz="1100"/>
          </a:p>
        </p:txBody>
      </p:sp>
      <p:sp>
        <p:nvSpPr>
          <p:cNvPr id="13" name="Grid card 1"/>
          <p:cNvSpPr/>
          <p:nvPr/>
        </p:nvSpPr>
        <p:spPr>
          <a:xfrm>
            <a:off x="440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4" name="Grid icon 1"/>
          <p:cNvSpPr/>
          <p:nvPr/>
        </p:nvSpPr>
        <p:spPr>
          <a:xfrm>
            <a:off x="4630000" y="1840000"/>
            <a:ext cx="520000" cy="520000"/>
          </a:xfrm>
          <a:prstGeom prst="roundRect">
            <a:avLst/>
          </a:prstGeom>
          <a:solidFill>
            <a:srgbClr val="EAF1F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3D7BFA"/>
                </a:solidFill>
              </a:rPr>
              <a:t>P</a:t>
            </a:r>
            <a:endParaRPr lang="en-US" sz="1600"/>
          </a:p>
        </p:txBody>
      </p:sp>
      <p:sp>
        <p:nvSpPr>
          <p:cNvPr id="15" name="Grid text 1"/>
          <p:cNvSpPr txBox="1"/>
          <p:nvPr/>
        </p:nvSpPr>
        <p:spPr>
          <a:xfrm>
            <a:off x="530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Protect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Store allergies and remove unsafe foods</a:t>
            </a:r>
            <a:endParaRPr lang="en-US" sz="1100"/>
          </a:p>
        </p:txBody>
      </p:sp>
      <p:sp>
        <p:nvSpPr>
          <p:cNvPr id="16" name="Grid card 2"/>
          <p:cNvSpPr/>
          <p:nvPr/>
        </p:nvSpPr>
        <p:spPr>
          <a:xfrm>
            <a:off x="818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7" name="Grid icon 2"/>
          <p:cNvSpPr/>
          <p:nvPr/>
        </p:nvSpPr>
        <p:spPr>
          <a:xfrm>
            <a:off x="8410000" y="1840000"/>
            <a:ext cx="520000" cy="520000"/>
          </a:xfrm>
          <a:prstGeom prst="roundRect">
            <a:avLst/>
          </a:prstGeom>
          <a:solidFill>
            <a:srgbClr val="FFF4D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F4A629"/>
                </a:solidFill>
              </a:rPr>
              <a:t>R</a:t>
            </a:r>
            <a:endParaRPr lang="en-US" sz="1600"/>
          </a:p>
        </p:txBody>
      </p:sp>
      <p:sp>
        <p:nvSpPr>
          <p:cNvPr id="18" name="Grid text 2"/>
          <p:cNvSpPr txBox="1"/>
          <p:nvPr/>
        </p:nvSpPr>
        <p:spPr>
          <a:xfrm>
            <a:off x="908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Recommend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Generate daily or weekly meal plans</a:t>
            </a:r>
            <a:endParaRPr lang="en-US" sz="1100"/>
          </a:p>
        </p:txBody>
      </p:sp>
      <p:sp>
        <p:nvSpPr>
          <p:cNvPr id="19" name="Grid card 3"/>
          <p:cNvSpPr/>
          <p:nvPr/>
        </p:nvSpPr>
        <p:spPr>
          <a:xfrm>
            <a:off x="62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0" name="Grid icon 3"/>
          <p:cNvSpPr/>
          <p:nvPr/>
        </p:nvSpPr>
        <p:spPr>
          <a:xfrm>
            <a:off x="850000" y="4020000"/>
            <a:ext cx="520000" cy="520000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7867E8"/>
                </a:solidFill>
              </a:rPr>
              <a:t>P</a:t>
            </a:r>
            <a:endParaRPr lang="en-US" sz="1600"/>
          </a:p>
        </p:txBody>
      </p:sp>
      <p:sp>
        <p:nvSpPr>
          <p:cNvPr id="21" name="Grid text 3"/>
          <p:cNvSpPr txBox="1"/>
          <p:nvPr/>
        </p:nvSpPr>
        <p:spPr>
          <a:xfrm>
            <a:off x="152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Prepare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Export plans to grocery lists</a:t>
            </a:r>
            <a:endParaRPr lang="en-US" sz="1100"/>
          </a:p>
        </p:txBody>
      </p:sp>
      <p:sp>
        <p:nvSpPr>
          <p:cNvPr id="22" name="Grid card 4"/>
          <p:cNvSpPr/>
          <p:nvPr/>
        </p:nvSpPr>
        <p:spPr>
          <a:xfrm>
            <a:off x="440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3" name="Grid icon 4"/>
          <p:cNvSpPr/>
          <p:nvPr/>
        </p:nvSpPr>
        <p:spPr>
          <a:xfrm>
            <a:off x="4630000" y="4020000"/>
            <a:ext cx="520000" cy="520000"/>
          </a:xfrm>
          <a:prstGeom prst="roundRect">
            <a:avLst/>
          </a:prstGeom>
          <a:solidFill>
            <a:srgbClr val="FFF0EE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EE6B62"/>
                </a:solidFill>
              </a:rPr>
              <a:t>T</a:t>
            </a:r>
            <a:endParaRPr lang="en-US" sz="1600"/>
          </a:p>
        </p:txBody>
      </p:sp>
      <p:sp>
        <p:nvSpPr>
          <p:cNvPr id="24" name="Grid text 4"/>
          <p:cNvSpPr txBox="1"/>
          <p:nvPr/>
        </p:nvSpPr>
        <p:spPr>
          <a:xfrm>
            <a:off x="530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Track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Log food, water and weight</a:t>
            </a:r>
            <a:endParaRPr lang="en-US" sz="1100"/>
          </a:p>
        </p:txBody>
      </p:sp>
      <p:sp>
        <p:nvSpPr>
          <p:cNvPr id="25" name="Grid card 5"/>
          <p:cNvSpPr/>
          <p:nvPr/>
        </p:nvSpPr>
        <p:spPr>
          <a:xfrm>
            <a:off x="818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6" name="Grid icon 5"/>
          <p:cNvSpPr/>
          <p:nvPr/>
        </p:nvSpPr>
        <p:spPr>
          <a:xfrm>
            <a:off x="8410000" y="4020000"/>
            <a:ext cx="520000" cy="520000"/>
          </a:xfrm>
          <a:prstGeom prst="roundRect">
            <a:avLst/>
          </a:prstGeom>
          <a:solidFill>
            <a:srgbClr val="D7F2E5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087A4D"/>
                </a:solidFill>
              </a:rPr>
              <a:t>G</a:t>
            </a:r>
            <a:endParaRPr lang="en-US" sz="1600"/>
          </a:p>
        </p:txBody>
      </p:sp>
      <p:sp>
        <p:nvSpPr>
          <p:cNvPr id="27" name="Grid text 5"/>
          <p:cNvSpPr txBox="1"/>
          <p:nvPr/>
        </p:nvSpPr>
        <p:spPr>
          <a:xfrm>
            <a:off x="908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Guide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Answer nutrition questions with context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SYSTEM ARCHITECTURE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A simple full-stack architecture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05</a:t>
            </a:r>
            <a:endParaRPr lang="en-US" sz="850"/>
          </a:p>
        </p:txBody>
      </p:sp>
      <p:sp>
        <p:nvSpPr>
          <p:cNvPr id="10" name="Layer 0"/>
          <p:cNvSpPr/>
          <p:nvPr/>
        </p:nvSpPr>
        <p:spPr>
          <a:xfrm>
            <a:off x="700000" y="1920000"/>
            <a:ext cx="3250000" cy="25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950" b="1" typeface="Aptos">
                <a:solidFill>
                  <a:srgbClr val="13A66A"/>
                </a:solidFill>
              </a:rPr>
              <a:t>FRONTEND</a:t>
            </a:r>
            <a:endParaRPr lang="en-US" sz="950"/>
          </a:p>
          <a:p>
            <a:pPr algn="ctr">
              <a:spcAft>
                <a:spcPts val="500"/>
              </a:spcAft>
              <a:buNone/>
            </a:pPr>
            <a:r>
              <a:rPr lang="en-US" sz="2300" b="1" typeface="Aptos">
                <a:solidFill>
                  <a:srgbClr val="10231B"/>
                </a:solidFill>
              </a:rPr>
              <a:t>Flutter</a:t>
            </a:r>
            <a:endParaRPr lang="en-US" sz="2300"/>
          </a:p>
          <a:p>
            <a:pPr algn="ctr">
              <a:spcAft>
                <a:spcPts val="500"/>
              </a:spcAft>
              <a:buNone/>
            </a:pPr>
            <a:r>
              <a:rPr lang="en-US" sz="1200" b="0" typeface="Aptos">
                <a:solidFill>
                  <a:srgbClr val="60706A"/>
                </a:solidFill>
              </a:rPr>
              <a:t>Screens • forms • charts</a:t>
            </a:r>
            <a:endParaRPr lang="en-US" sz="1200"/>
          </a:p>
        </p:txBody>
      </p:sp>
      <p:sp>
        <p:nvSpPr>
          <p:cNvPr id="11" name="Layer accent 0"/>
          <p:cNvSpPr/>
          <p:nvPr/>
        </p:nvSpPr>
        <p:spPr>
          <a:xfrm>
            <a:off x="700000" y="1920000"/>
            <a:ext cx="3250000" cy="110000"/>
          </a:xfrm>
          <a:prstGeom prst="rect">
            <a:avLst/>
          </a:prstGeom>
          <a:solidFill>
            <a:srgbClr val="13A66A"/>
          </a:solidFill>
          <a:ln>
            <a:noFill/>
          </a:ln>
        </p:spPr>
      </p:sp>
      <p:sp>
        <p:nvSpPr>
          <p:cNvPr id="20" name="Arrow"/>
          <p:cNvSpPr txBox="1"/>
          <p:nvPr/>
        </p:nvSpPr>
        <p:spPr>
          <a:xfrm>
            <a:off x="4040000" y="2840000"/>
            <a:ext cx="430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2200" b="1" typeface="Aptos">
                <a:solidFill>
                  <a:srgbClr val="13A66A"/>
                </a:solidFill>
              </a:rPr>
              <a:t>→</a:t>
            </a:r>
            <a:endParaRPr lang="en-US" sz="2200"/>
          </a:p>
        </p:txBody>
      </p:sp>
      <p:sp>
        <p:nvSpPr>
          <p:cNvPr id="12" name="Layer 1"/>
          <p:cNvSpPr/>
          <p:nvPr/>
        </p:nvSpPr>
        <p:spPr>
          <a:xfrm>
            <a:off x="4600000" y="1920000"/>
            <a:ext cx="3250000" cy="25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950" b="1" typeface="Aptos">
                <a:solidFill>
                  <a:srgbClr val="3D7BFA"/>
                </a:solidFill>
              </a:rPr>
              <a:t>BACKEND</a:t>
            </a:r>
            <a:endParaRPr lang="en-US" sz="950"/>
          </a:p>
          <a:p>
            <a:pPr algn="ctr">
              <a:spcAft>
                <a:spcPts val="500"/>
              </a:spcAft>
              <a:buNone/>
            </a:pPr>
            <a:r>
              <a:rPr lang="en-US" sz="2300" b="1" typeface="Aptos">
                <a:solidFill>
                  <a:srgbClr val="10231B"/>
                </a:solidFill>
              </a:rPr>
              <a:t>FastAPI</a:t>
            </a:r>
            <a:endParaRPr lang="en-US" sz="2300"/>
          </a:p>
          <a:p>
            <a:pPr algn="ctr">
              <a:spcAft>
                <a:spcPts val="500"/>
              </a:spcAft>
              <a:buNone/>
            </a:pPr>
            <a:r>
              <a:rPr lang="en-US" sz="1200" b="0" typeface="Aptos">
                <a:solidFill>
                  <a:srgbClr val="60706A"/>
                </a:solidFill>
              </a:rPr>
              <a:t>REST API • auth • AI logic</a:t>
            </a:r>
            <a:endParaRPr lang="en-US" sz="1200"/>
          </a:p>
        </p:txBody>
      </p:sp>
      <p:sp>
        <p:nvSpPr>
          <p:cNvPr id="13" name="Layer accent 1"/>
          <p:cNvSpPr/>
          <p:nvPr/>
        </p:nvSpPr>
        <p:spPr>
          <a:xfrm>
            <a:off x="4600000" y="1920000"/>
            <a:ext cx="3250000" cy="110000"/>
          </a:xfrm>
          <a:prstGeom prst="rect">
            <a:avLst/>
          </a:prstGeom>
          <a:solidFill>
            <a:srgbClr val="3D7BFA"/>
          </a:solidFill>
          <a:ln>
            <a:noFill/>
          </a:ln>
        </p:spPr>
      </p:sp>
      <p:sp>
        <p:nvSpPr>
          <p:cNvPr id="21" name="Arrow"/>
          <p:cNvSpPr txBox="1"/>
          <p:nvPr/>
        </p:nvSpPr>
        <p:spPr>
          <a:xfrm>
            <a:off x="7940000" y="2840000"/>
            <a:ext cx="430000" cy="43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2200" b="1" typeface="Aptos">
                <a:solidFill>
                  <a:srgbClr val="13A66A"/>
                </a:solidFill>
              </a:rPr>
              <a:t>→</a:t>
            </a:r>
            <a:endParaRPr lang="en-US" sz="2200"/>
          </a:p>
        </p:txBody>
      </p:sp>
      <p:sp>
        <p:nvSpPr>
          <p:cNvPr id="14" name="Layer 2"/>
          <p:cNvSpPr/>
          <p:nvPr/>
        </p:nvSpPr>
        <p:spPr>
          <a:xfrm>
            <a:off x="8500000" y="1920000"/>
            <a:ext cx="3250000" cy="25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950" b="1" typeface="Aptos">
                <a:solidFill>
                  <a:srgbClr val="7867E8"/>
                </a:solidFill>
              </a:rPr>
              <a:t>DATABASE</a:t>
            </a:r>
            <a:endParaRPr lang="en-US" sz="950"/>
          </a:p>
          <a:p>
            <a:pPr algn="ctr">
              <a:spcAft>
                <a:spcPts val="500"/>
              </a:spcAft>
              <a:buNone/>
            </a:pPr>
            <a:r>
              <a:rPr lang="en-US" sz="2300" b="1" typeface="Aptos">
                <a:solidFill>
                  <a:srgbClr val="10231B"/>
                </a:solidFill>
              </a:rPr>
              <a:t>PostgreSQL</a:t>
            </a:r>
            <a:endParaRPr lang="en-US" sz="2300"/>
          </a:p>
          <a:p>
            <a:pPr algn="ctr">
              <a:spcAft>
                <a:spcPts val="500"/>
              </a:spcAft>
              <a:buNone/>
            </a:pPr>
            <a:r>
              <a:rPr lang="en-US" sz="1200" b="0" typeface="Aptos">
                <a:solidFill>
                  <a:srgbClr val="60706A"/>
                </a:solidFill>
              </a:rPr>
              <a:t>Users • foods • plans • logs</a:t>
            </a:r>
            <a:endParaRPr lang="en-US" sz="1200"/>
          </a:p>
        </p:txBody>
      </p:sp>
      <p:sp>
        <p:nvSpPr>
          <p:cNvPr id="15" name="Layer accent 2"/>
          <p:cNvSpPr/>
          <p:nvPr/>
        </p:nvSpPr>
        <p:spPr>
          <a:xfrm>
            <a:off x="8500000" y="1920000"/>
            <a:ext cx="3250000" cy="110000"/>
          </a:xfrm>
          <a:prstGeom prst="rect">
            <a:avLst/>
          </a:prstGeom>
          <a:solidFill>
            <a:srgbClr val="7867E8"/>
          </a:solidFill>
          <a:ln>
            <a:noFill/>
          </a:ln>
        </p:spPr>
      </p:sp>
      <p:sp>
        <p:nvSpPr>
          <p:cNvPr id="25" name="Support"/>
          <p:cNvSpPr/>
          <p:nvPr/>
        </p:nvSpPr>
        <p:spPr>
          <a:xfrm>
            <a:off x="1520000" y="4860000"/>
            <a:ext cx="9150000" cy="780000"/>
          </a:xfrm>
          <a:prstGeom prst="roundRect">
            <a:avLst/>
          </a:prstGeom>
          <a:solidFill>
            <a:srgbClr val="EAF8F1"/>
          </a:solidFill>
          <a:ln>
            <a:noFill/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087A4D"/>
                </a:solidFill>
              </a:rPr>
              <a:t>Dart + Python  •  SQLAlchemy ORM  •  JWT security  •  Docker Compose + Nginx</a:t>
            </a:r>
            <a:endParaRPr lang="en-US" sz="13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AI TECHNOLOGIES AND MODELS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NutriAI uses a hybrid set of AI techniques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06</a:t>
            </a:r>
            <a:endParaRPr lang="en-US" sz="850"/>
          </a:p>
        </p:txBody>
      </p:sp>
      <p:sp>
        <p:nvSpPr>
          <p:cNvPr id="10" name="Grid card 0"/>
          <p:cNvSpPr/>
          <p:nvPr/>
        </p:nvSpPr>
        <p:spPr>
          <a:xfrm>
            <a:off x="62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1" name="Grid icon 0"/>
          <p:cNvSpPr/>
          <p:nvPr/>
        </p:nvSpPr>
        <p:spPr>
          <a:xfrm>
            <a:off x="850000" y="1840000"/>
            <a:ext cx="520000" cy="520000"/>
          </a:xfrm>
          <a:prstGeom prst="roundRect">
            <a:avLst/>
          </a:prstGeom>
          <a:solidFill>
            <a:srgbClr val="EAF8F1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13A66A"/>
                </a:solidFill>
              </a:rPr>
              <a:t>M</a:t>
            </a:r>
            <a:endParaRPr lang="en-US" sz="1600"/>
          </a:p>
        </p:txBody>
      </p:sp>
      <p:sp>
        <p:nvSpPr>
          <p:cNvPr id="12" name="Grid text 0"/>
          <p:cNvSpPr txBox="1"/>
          <p:nvPr/>
        </p:nvSpPr>
        <p:spPr>
          <a:xfrm>
            <a:off x="152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Meal recommendation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Combinational search and heuristic scoring</a:t>
            </a:r>
            <a:endParaRPr lang="en-US" sz="1100"/>
          </a:p>
        </p:txBody>
      </p:sp>
      <p:sp>
        <p:nvSpPr>
          <p:cNvPr id="13" name="Grid card 1"/>
          <p:cNvSpPr/>
          <p:nvPr/>
        </p:nvSpPr>
        <p:spPr>
          <a:xfrm>
            <a:off x="440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4" name="Grid icon 1"/>
          <p:cNvSpPr/>
          <p:nvPr/>
        </p:nvSpPr>
        <p:spPr>
          <a:xfrm>
            <a:off x="4630000" y="1840000"/>
            <a:ext cx="520000" cy="520000"/>
          </a:xfrm>
          <a:prstGeom prst="roundRect">
            <a:avLst/>
          </a:prstGeom>
          <a:solidFill>
            <a:srgbClr val="FFF4D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F4A629"/>
                </a:solidFill>
              </a:rPr>
              <a:t>C</a:t>
            </a:r>
            <a:endParaRPr lang="en-US" sz="1600"/>
          </a:p>
        </p:txBody>
      </p:sp>
      <p:sp>
        <p:nvSpPr>
          <p:cNvPr id="15" name="Grid text 1"/>
          <p:cNvSpPr txBox="1"/>
          <p:nvPr/>
        </p:nvSpPr>
        <p:spPr>
          <a:xfrm>
            <a:off x="530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Calorie targets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Mifflin-St Jeor BMR and activity formulas</a:t>
            </a:r>
            <a:endParaRPr lang="en-US" sz="1100"/>
          </a:p>
        </p:txBody>
      </p:sp>
      <p:sp>
        <p:nvSpPr>
          <p:cNvPr id="16" name="Grid card 2"/>
          <p:cNvSpPr/>
          <p:nvPr/>
        </p:nvSpPr>
        <p:spPr>
          <a:xfrm>
            <a:off x="8180000" y="158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17" name="Grid icon 2"/>
          <p:cNvSpPr/>
          <p:nvPr/>
        </p:nvSpPr>
        <p:spPr>
          <a:xfrm>
            <a:off x="8410000" y="1840000"/>
            <a:ext cx="520000" cy="520000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7867E8"/>
                </a:solidFill>
              </a:rPr>
              <a:t>F</a:t>
            </a:r>
            <a:endParaRPr lang="en-US" sz="1600"/>
          </a:p>
        </p:txBody>
      </p:sp>
      <p:sp>
        <p:nvSpPr>
          <p:cNvPr id="18" name="Grid text 2"/>
          <p:cNvSpPr txBox="1"/>
          <p:nvPr/>
        </p:nvSpPr>
        <p:spPr>
          <a:xfrm>
            <a:off x="9080000" y="181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Food substitutes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Nutrition-distance ranking</a:t>
            </a:r>
            <a:endParaRPr lang="en-US" sz="1100"/>
          </a:p>
        </p:txBody>
      </p:sp>
      <p:sp>
        <p:nvSpPr>
          <p:cNvPr id="19" name="Grid card 3"/>
          <p:cNvSpPr/>
          <p:nvPr/>
        </p:nvSpPr>
        <p:spPr>
          <a:xfrm>
            <a:off x="62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0" name="Grid icon 3"/>
          <p:cNvSpPr/>
          <p:nvPr/>
        </p:nvSpPr>
        <p:spPr>
          <a:xfrm>
            <a:off x="850000" y="4020000"/>
            <a:ext cx="520000" cy="520000"/>
          </a:xfrm>
          <a:prstGeom prst="roundRect">
            <a:avLst/>
          </a:prstGeom>
          <a:solidFill>
            <a:srgbClr val="FFF0EE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EE6B62"/>
                </a:solidFill>
              </a:rPr>
              <a:t>H</a:t>
            </a:r>
            <a:endParaRPr lang="en-US" sz="1600"/>
          </a:p>
        </p:txBody>
      </p:sp>
      <p:sp>
        <p:nvSpPr>
          <p:cNvPr id="21" name="Grid text 3"/>
          <p:cNvSpPr txBox="1"/>
          <p:nvPr/>
        </p:nvSpPr>
        <p:spPr>
          <a:xfrm>
            <a:off x="152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Health screening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Transparent rule-based risk scoring</a:t>
            </a:r>
            <a:endParaRPr lang="en-US" sz="1100"/>
          </a:p>
        </p:txBody>
      </p:sp>
      <p:sp>
        <p:nvSpPr>
          <p:cNvPr id="22" name="Grid card 4"/>
          <p:cNvSpPr/>
          <p:nvPr/>
        </p:nvSpPr>
        <p:spPr>
          <a:xfrm>
            <a:off x="440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3" name="Grid icon 4"/>
          <p:cNvSpPr/>
          <p:nvPr/>
        </p:nvSpPr>
        <p:spPr>
          <a:xfrm>
            <a:off x="4630000" y="4020000"/>
            <a:ext cx="520000" cy="520000"/>
          </a:xfrm>
          <a:prstGeom prst="roundRect">
            <a:avLst/>
          </a:prstGeom>
          <a:solidFill>
            <a:srgbClr val="EAF1FF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3D7BFA"/>
                </a:solidFill>
              </a:rPr>
              <a:t>C</a:t>
            </a:r>
            <a:endParaRPr lang="en-US" sz="1600"/>
          </a:p>
        </p:txBody>
      </p:sp>
      <p:sp>
        <p:nvSpPr>
          <p:cNvPr id="24" name="Grid text 4"/>
          <p:cNvSpPr txBox="1"/>
          <p:nvPr/>
        </p:nvSpPr>
        <p:spPr>
          <a:xfrm>
            <a:off x="530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Chatbot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Ollama, OpenAI or local fallback</a:t>
            </a:r>
            <a:endParaRPr lang="en-US" sz="1100"/>
          </a:p>
        </p:txBody>
      </p:sp>
      <p:sp>
        <p:nvSpPr>
          <p:cNvPr id="25" name="Grid card 5"/>
          <p:cNvSpPr/>
          <p:nvPr/>
        </p:nvSpPr>
        <p:spPr>
          <a:xfrm>
            <a:off x="8180000" y="3760000"/>
            <a:ext cx="3370000" cy="178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</p:sp>
      <p:sp>
        <p:nvSpPr>
          <p:cNvPr id="26" name="Grid icon 5"/>
          <p:cNvSpPr/>
          <p:nvPr/>
        </p:nvSpPr>
        <p:spPr>
          <a:xfrm>
            <a:off x="8410000" y="4020000"/>
            <a:ext cx="520000" cy="520000"/>
          </a:xfrm>
          <a:prstGeom prst="roundRect">
            <a:avLst/>
          </a:prstGeom>
          <a:solidFill>
            <a:srgbClr val="D7F2E5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600" b="1" typeface="Aptos">
                <a:solidFill>
                  <a:srgbClr val="087A4D"/>
                </a:solidFill>
              </a:rPr>
              <a:t>P</a:t>
            </a:r>
            <a:endParaRPr lang="en-US" sz="1600"/>
          </a:p>
        </p:txBody>
      </p:sp>
      <p:sp>
        <p:nvSpPr>
          <p:cNvPr id="27" name="Grid text 5"/>
          <p:cNvSpPr txBox="1"/>
          <p:nvPr/>
        </p:nvSpPr>
        <p:spPr>
          <a:xfrm>
            <a:off x="9080000" y="3990000"/>
            <a:ext cx="2200000" cy="12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10231B"/>
                </a:solidFill>
              </a:rPr>
              <a:t>Photo assistance</a:t>
            </a:r>
            <a:endParaRPr lang="en-US" sz="1500"/>
          </a:p>
          <a:p>
            <a:pPr algn="l">
              <a:spcAft>
                <a:spcPts val="500"/>
              </a:spcAft>
              <a:buNone/>
            </a:pPr>
            <a:r>
              <a:rPr lang="en-US" sz="1100" b="0" typeface="Aptos">
                <a:solidFill>
                  <a:srgbClr val="60706A"/>
                </a:solidFill>
              </a:rPr>
              <a:t>Conservative low-confidence prototype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APPLICATION FEATURES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Key features support planning, shopping and tracking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07</a:t>
            </a:r>
            <a:endParaRPr lang="en-US" sz="850"/>
          </a:p>
        </p:txBody>
      </p:sp>
      <p:sp>
        <p:nvSpPr>
          <p:cNvPr id="10" name="Screen 0"/>
          <p:cNvSpPr/>
          <p:nvPr/>
        </p:nvSpPr>
        <p:spPr>
          <a:xfrm>
            <a:off x="62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13A66A"/>
                </a:solidFill>
              </a:rPr>
              <a:t>01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Authentication</a:t>
            </a:r>
            <a:endParaRPr lang="en-US" sz="1350"/>
          </a:p>
        </p:txBody>
      </p:sp>
      <p:sp>
        <p:nvSpPr>
          <p:cNvPr id="11" name="Screen bar 0"/>
          <p:cNvSpPr/>
          <p:nvPr/>
        </p:nvSpPr>
        <p:spPr>
          <a:xfrm>
            <a:off x="620000" y="1780000"/>
            <a:ext cx="1920000" cy="75000"/>
          </a:xfrm>
          <a:prstGeom prst="rect">
            <a:avLst/>
          </a:prstGeom>
          <a:solidFill>
            <a:srgbClr val="13A66A"/>
          </a:solidFill>
          <a:ln>
            <a:noFill/>
          </a:ln>
        </p:spPr>
      </p:sp>
      <p:sp>
        <p:nvSpPr>
          <p:cNvPr id="12" name="Screen 1"/>
          <p:cNvSpPr/>
          <p:nvPr/>
        </p:nvSpPr>
        <p:spPr>
          <a:xfrm>
            <a:off x="288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3D7BFA"/>
                </a:solidFill>
              </a:rPr>
              <a:t>02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Health profile</a:t>
            </a:r>
            <a:endParaRPr lang="en-US" sz="1350"/>
          </a:p>
        </p:txBody>
      </p:sp>
      <p:sp>
        <p:nvSpPr>
          <p:cNvPr id="13" name="Screen bar 1"/>
          <p:cNvSpPr/>
          <p:nvPr/>
        </p:nvSpPr>
        <p:spPr>
          <a:xfrm>
            <a:off x="2880000" y="1780000"/>
            <a:ext cx="1920000" cy="75000"/>
          </a:xfrm>
          <a:prstGeom prst="rect">
            <a:avLst/>
          </a:prstGeom>
          <a:solidFill>
            <a:srgbClr val="3D7BFA"/>
          </a:solidFill>
          <a:ln>
            <a:noFill/>
          </a:ln>
        </p:spPr>
      </p:sp>
      <p:sp>
        <p:nvSpPr>
          <p:cNvPr id="14" name="Screen 2"/>
          <p:cNvSpPr/>
          <p:nvPr/>
        </p:nvSpPr>
        <p:spPr>
          <a:xfrm>
            <a:off x="514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F4A629"/>
                </a:solidFill>
              </a:rPr>
              <a:t>03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Allergy tracking</a:t>
            </a:r>
            <a:endParaRPr lang="en-US" sz="1350"/>
          </a:p>
        </p:txBody>
      </p:sp>
      <p:sp>
        <p:nvSpPr>
          <p:cNvPr id="15" name="Screen bar 2"/>
          <p:cNvSpPr/>
          <p:nvPr/>
        </p:nvSpPr>
        <p:spPr>
          <a:xfrm>
            <a:off x="5140000" y="1780000"/>
            <a:ext cx="1920000" cy="75000"/>
          </a:xfrm>
          <a:prstGeom prst="rect">
            <a:avLst/>
          </a:prstGeom>
          <a:solidFill>
            <a:srgbClr val="F4A629"/>
          </a:solidFill>
          <a:ln>
            <a:noFill/>
          </a:ln>
        </p:spPr>
      </p:sp>
      <p:sp>
        <p:nvSpPr>
          <p:cNvPr id="16" name="Screen 3"/>
          <p:cNvSpPr/>
          <p:nvPr/>
        </p:nvSpPr>
        <p:spPr>
          <a:xfrm>
            <a:off x="740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7867E8"/>
                </a:solidFill>
              </a:rPr>
              <a:t>04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Meal plans</a:t>
            </a:r>
            <a:endParaRPr lang="en-US" sz="1350"/>
          </a:p>
        </p:txBody>
      </p:sp>
      <p:sp>
        <p:nvSpPr>
          <p:cNvPr id="17" name="Screen bar 3"/>
          <p:cNvSpPr/>
          <p:nvPr/>
        </p:nvSpPr>
        <p:spPr>
          <a:xfrm>
            <a:off x="7400000" y="1780000"/>
            <a:ext cx="1920000" cy="75000"/>
          </a:xfrm>
          <a:prstGeom prst="rect">
            <a:avLst/>
          </a:prstGeom>
          <a:solidFill>
            <a:srgbClr val="7867E8"/>
          </a:solidFill>
          <a:ln>
            <a:noFill/>
          </a:ln>
        </p:spPr>
      </p:sp>
      <p:sp>
        <p:nvSpPr>
          <p:cNvPr id="18" name="Screen 4"/>
          <p:cNvSpPr/>
          <p:nvPr/>
        </p:nvSpPr>
        <p:spPr>
          <a:xfrm>
            <a:off x="966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EE6B62"/>
                </a:solidFill>
              </a:rPr>
              <a:t>05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Groceries</a:t>
            </a:r>
            <a:endParaRPr lang="en-US" sz="1350"/>
          </a:p>
        </p:txBody>
      </p:sp>
      <p:sp>
        <p:nvSpPr>
          <p:cNvPr id="19" name="Screen bar 4"/>
          <p:cNvSpPr/>
          <p:nvPr/>
        </p:nvSpPr>
        <p:spPr>
          <a:xfrm>
            <a:off x="9660000" y="1780000"/>
            <a:ext cx="1920000" cy="75000"/>
          </a:xfrm>
          <a:prstGeom prst="rect">
            <a:avLst/>
          </a:prstGeom>
          <a:solidFill>
            <a:srgbClr val="EE6B62"/>
          </a:solidFill>
          <a:ln>
            <a:noFill/>
          </a:ln>
        </p:spPr>
      </p:sp>
      <p:sp>
        <p:nvSpPr>
          <p:cNvPr id="20" name="Screen 5"/>
          <p:cNvSpPr/>
          <p:nvPr/>
        </p:nvSpPr>
        <p:spPr>
          <a:xfrm>
            <a:off x="62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13A66A"/>
                </a:solidFill>
              </a:rPr>
              <a:t>06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Food logging</a:t>
            </a:r>
            <a:endParaRPr lang="en-US" sz="1350"/>
          </a:p>
        </p:txBody>
      </p:sp>
      <p:sp>
        <p:nvSpPr>
          <p:cNvPr id="21" name="Screen bar 5"/>
          <p:cNvSpPr/>
          <p:nvPr/>
        </p:nvSpPr>
        <p:spPr>
          <a:xfrm>
            <a:off x="620000" y="3680000"/>
            <a:ext cx="1920000" cy="75000"/>
          </a:xfrm>
          <a:prstGeom prst="rect">
            <a:avLst/>
          </a:prstGeom>
          <a:solidFill>
            <a:srgbClr val="13A66A"/>
          </a:solidFill>
          <a:ln>
            <a:noFill/>
          </a:ln>
        </p:spPr>
      </p:sp>
      <p:sp>
        <p:nvSpPr>
          <p:cNvPr id="22" name="Screen 6"/>
          <p:cNvSpPr/>
          <p:nvPr/>
        </p:nvSpPr>
        <p:spPr>
          <a:xfrm>
            <a:off x="288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3D7BFA"/>
                </a:solidFill>
              </a:rPr>
              <a:t>07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Water tracking</a:t>
            </a:r>
            <a:endParaRPr lang="en-US" sz="1350"/>
          </a:p>
        </p:txBody>
      </p:sp>
      <p:sp>
        <p:nvSpPr>
          <p:cNvPr id="23" name="Screen bar 6"/>
          <p:cNvSpPr/>
          <p:nvPr/>
        </p:nvSpPr>
        <p:spPr>
          <a:xfrm>
            <a:off x="2880000" y="3680000"/>
            <a:ext cx="1920000" cy="75000"/>
          </a:xfrm>
          <a:prstGeom prst="rect">
            <a:avLst/>
          </a:prstGeom>
          <a:solidFill>
            <a:srgbClr val="3D7BFA"/>
          </a:solidFill>
          <a:ln>
            <a:noFill/>
          </a:ln>
        </p:spPr>
      </p:sp>
      <p:sp>
        <p:nvSpPr>
          <p:cNvPr id="24" name="Screen 7"/>
          <p:cNvSpPr/>
          <p:nvPr/>
        </p:nvSpPr>
        <p:spPr>
          <a:xfrm>
            <a:off x="514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F4A629"/>
                </a:solidFill>
              </a:rPr>
              <a:t>08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Weight progress</a:t>
            </a:r>
            <a:endParaRPr lang="en-US" sz="1350"/>
          </a:p>
        </p:txBody>
      </p:sp>
      <p:sp>
        <p:nvSpPr>
          <p:cNvPr id="25" name="Screen bar 7"/>
          <p:cNvSpPr/>
          <p:nvPr/>
        </p:nvSpPr>
        <p:spPr>
          <a:xfrm>
            <a:off x="5140000" y="3680000"/>
            <a:ext cx="1920000" cy="75000"/>
          </a:xfrm>
          <a:prstGeom prst="rect">
            <a:avLst/>
          </a:prstGeom>
          <a:solidFill>
            <a:srgbClr val="F4A629"/>
          </a:solidFill>
          <a:ln>
            <a:noFill/>
          </a:ln>
        </p:spPr>
      </p:sp>
      <p:sp>
        <p:nvSpPr>
          <p:cNvPr id="26" name="Screen 8"/>
          <p:cNvSpPr/>
          <p:nvPr/>
        </p:nvSpPr>
        <p:spPr>
          <a:xfrm>
            <a:off x="740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7867E8"/>
                </a:solidFill>
              </a:rPr>
              <a:t>09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AI assistant</a:t>
            </a:r>
            <a:endParaRPr lang="en-US" sz="1350"/>
          </a:p>
        </p:txBody>
      </p:sp>
      <p:sp>
        <p:nvSpPr>
          <p:cNvPr id="27" name="Screen bar 8"/>
          <p:cNvSpPr/>
          <p:nvPr/>
        </p:nvSpPr>
        <p:spPr>
          <a:xfrm>
            <a:off x="7400000" y="3680000"/>
            <a:ext cx="1920000" cy="75000"/>
          </a:xfrm>
          <a:prstGeom prst="rect">
            <a:avLst/>
          </a:prstGeom>
          <a:solidFill>
            <a:srgbClr val="7867E8"/>
          </a:solidFill>
          <a:ln>
            <a:noFill/>
          </a:ln>
        </p:spPr>
      </p:sp>
      <p:sp>
        <p:nvSpPr>
          <p:cNvPr id="28" name="Screen 9"/>
          <p:cNvSpPr/>
          <p:nvPr/>
        </p:nvSpPr>
        <p:spPr>
          <a:xfrm>
            <a:off x="966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EE6B62"/>
                </a:solidFill>
              </a:rPr>
              <a:t>10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Substitutes</a:t>
            </a:r>
            <a:endParaRPr lang="en-US" sz="1350"/>
          </a:p>
        </p:txBody>
      </p:sp>
      <p:sp>
        <p:nvSpPr>
          <p:cNvPr id="29" name="Screen bar 9"/>
          <p:cNvSpPr/>
          <p:nvPr/>
        </p:nvSpPr>
        <p:spPr>
          <a:xfrm>
            <a:off x="9660000" y="3680000"/>
            <a:ext cx="1920000" cy="75000"/>
          </a:xfrm>
          <a:prstGeom prst="rect">
            <a:avLst/>
          </a:prstGeom>
          <a:solidFill>
            <a:srgbClr val="EE6B62"/>
          </a:solid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AI DETAIL 1 • HEURISTIC SEARCH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Meal recommendation is the core intelligent feature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08</a:t>
            </a:r>
            <a:endParaRPr lang="en-US" sz="850"/>
          </a:p>
        </p:txBody>
      </p:sp>
      <p:sp>
        <p:nvSpPr>
          <p:cNvPr id="10" name="Algorithm 0"/>
          <p:cNvSpPr/>
          <p:nvPr/>
        </p:nvSpPr>
        <p:spPr>
          <a:xfrm>
            <a:off x="780000" y="1680000"/>
            <a:ext cx="3100000" cy="1000000"/>
          </a:xfrm>
          <a:prstGeom prst="roundRect">
            <a:avLst/>
          </a:prstGeom>
          <a:solidFill>
            <a:srgbClr val="EAF8F1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450" b="1" typeface="Aptos">
                <a:solidFill>
                  <a:srgbClr val="10231B"/>
                </a:solidFill>
              </a:rPr>
              <a:t>01   Load food data</a:t>
            </a:r>
            <a:endParaRPr lang="en-US" sz="1450"/>
          </a:p>
        </p:txBody>
      </p:sp>
      <p:sp>
        <p:nvSpPr>
          <p:cNvPr id="11" name="Algorithm 1"/>
          <p:cNvSpPr/>
          <p:nvPr/>
        </p:nvSpPr>
        <p:spPr>
          <a:xfrm>
            <a:off x="4540000" y="1680000"/>
            <a:ext cx="3100000" cy="1000000"/>
          </a:xfrm>
          <a:prstGeom prst="roundRect">
            <a:avLst/>
          </a:prstGeom>
          <a:solidFill>
            <a:srgbClr val="EAF8F1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450" b="1" typeface="Aptos">
                <a:solidFill>
                  <a:srgbClr val="10231B"/>
                </a:solidFill>
              </a:rPr>
              <a:t>02   Remove allergens</a:t>
            </a:r>
            <a:endParaRPr lang="en-US" sz="1450"/>
          </a:p>
        </p:txBody>
      </p:sp>
      <p:sp>
        <p:nvSpPr>
          <p:cNvPr id="12" name="Algorithm 2"/>
          <p:cNvSpPr/>
          <p:nvPr/>
        </p:nvSpPr>
        <p:spPr>
          <a:xfrm>
            <a:off x="8300000" y="1680000"/>
            <a:ext cx="3100000" cy="1000000"/>
          </a:xfrm>
          <a:prstGeom prst="roundRect">
            <a:avLst/>
          </a:prstGeom>
          <a:solidFill>
            <a:srgbClr val="EAF8F1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450" b="1" typeface="Aptos">
                <a:solidFill>
                  <a:srgbClr val="10231B"/>
                </a:solidFill>
              </a:rPr>
              <a:t>03   Apply preferences</a:t>
            </a:r>
            <a:endParaRPr lang="en-US" sz="1450"/>
          </a:p>
        </p:txBody>
      </p:sp>
      <p:sp>
        <p:nvSpPr>
          <p:cNvPr id="13" name="Algorithm 3"/>
          <p:cNvSpPr/>
          <p:nvPr/>
        </p:nvSpPr>
        <p:spPr>
          <a:xfrm>
            <a:off x="780000" y="3260000"/>
            <a:ext cx="31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450" b="1" typeface="Aptos">
                <a:solidFill>
                  <a:srgbClr val="10231B"/>
                </a:solidFill>
              </a:rPr>
              <a:t>04   Build 1–3 food sets</a:t>
            </a:r>
            <a:endParaRPr lang="en-US" sz="1450"/>
          </a:p>
        </p:txBody>
      </p:sp>
      <p:sp>
        <p:nvSpPr>
          <p:cNvPr id="14" name="Algorithm 4"/>
          <p:cNvSpPr/>
          <p:nvPr/>
        </p:nvSpPr>
        <p:spPr>
          <a:xfrm>
            <a:off x="4540000" y="3260000"/>
            <a:ext cx="31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450" b="1" typeface="Aptos">
                <a:solidFill>
                  <a:srgbClr val="10231B"/>
                </a:solidFill>
              </a:rPr>
              <a:t>05   Score nutrition fit</a:t>
            </a:r>
            <a:endParaRPr lang="en-US" sz="1450"/>
          </a:p>
        </p:txBody>
      </p:sp>
      <p:sp>
        <p:nvSpPr>
          <p:cNvPr id="15" name="Algorithm 5"/>
          <p:cNvSpPr/>
          <p:nvPr/>
        </p:nvSpPr>
        <p:spPr>
          <a:xfrm>
            <a:off x="8300000" y="3260000"/>
            <a:ext cx="31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450" b="1" typeface="Aptos">
                <a:solidFill>
                  <a:srgbClr val="10231B"/>
                </a:solidFill>
              </a:rPr>
              <a:t>06   Select lowest score</a:t>
            </a:r>
            <a:endParaRPr lang="en-US" sz="1450"/>
          </a:p>
        </p:txBody>
      </p:sp>
      <p:sp>
        <p:nvSpPr>
          <p:cNvPr id="20" name="Formula"/>
          <p:cNvSpPr/>
          <p:nvPr/>
        </p:nvSpPr>
        <p:spPr>
          <a:xfrm>
            <a:off x="1710000" y="5070000"/>
            <a:ext cx="8780000" cy="750000"/>
          </a:xfrm>
          <a:prstGeom prst="roundRect">
            <a:avLst/>
          </a:prstGeom>
          <a:solidFill>
            <a:srgbClr val="073F31"/>
          </a:solidFill>
          <a:ln>
            <a:noFill/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500" b="1" typeface="Aptos">
                <a:solidFill>
                  <a:srgbClr val="FFFFFF"/>
                </a:solidFill>
              </a:rPr>
              <a:t>score = calorie gap + protein/carbs/fat gaps + category penalty + budget penalty</a:t>
            </a:r>
            <a:endParaRPr lang="en-US" sz="15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AI DETAIL 2 • CHATBOT AND SUPPORTING LOGIC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The assistant and support services stay explainable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09</a:t>
            </a:r>
            <a:endParaRPr lang="en-US" sz="850"/>
          </a:p>
        </p:txBody>
      </p:sp>
      <p:sp>
        <p:nvSpPr>
          <p:cNvPr id="10" name="Improvement 0"/>
          <p:cNvSpPr/>
          <p:nvPr/>
        </p:nvSpPr>
        <p:spPr>
          <a:xfrm>
            <a:off x="780000" y="1670000"/>
            <a:ext cx="4930000" cy="1730000"/>
          </a:xfrm>
          <a:prstGeom prst="roundRect">
            <a:avLst/>
          </a:prstGeom>
          <a:solidFill>
            <a:srgbClr val="073F31"/>
          </a:solidFill>
          <a:ln>
            <a:noFill/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750" b="1" typeface="Aptos">
                <a:solidFill>
                  <a:srgbClr val="FFFFFF"/>
                </a:solidFill>
              </a:rPr>
              <a:t>Chatbot</a:t>
            </a:r>
            <a:endParaRPr lang="en-US" sz="1750"/>
          </a:p>
          <a:p>
            <a:pPr algn="l">
              <a:spcAft>
                <a:spcPts val="500"/>
              </a:spcAft>
              <a:buNone/>
            </a:pPr>
            <a:r>
              <a:rPr lang="en-US" sz="1200" b="0" typeface="Aptos">
                <a:solidFill>
                  <a:srgbClr val="CFEBDD"/>
                </a:solidFill>
              </a:rPr>
              <a:t>Uses goal, targets, allergies and today’s calories.</a:t>
            </a:r>
            <a:endParaRPr lang="en-US" sz="1200"/>
          </a:p>
        </p:txBody>
      </p:sp>
      <p:sp>
        <p:nvSpPr>
          <p:cNvPr id="11" name="Improvement 1"/>
          <p:cNvSpPr/>
          <p:nvPr/>
        </p:nvSpPr>
        <p:spPr>
          <a:xfrm>
            <a:off x="6350000" y="1670000"/>
            <a:ext cx="4930000" cy="1730000"/>
          </a:xfrm>
          <a:prstGeom prst="roundRect">
            <a:avLst/>
          </a:prstGeom>
          <a:solidFill>
            <a:srgbClr val="EAF8F1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750" b="1" typeface="Aptos">
                <a:solidFill>
                  <a:srgbClr val="10231B"/>
                </a:solidFill>
              </a:rPr>
              <a:t>Fallback</a:t>
            </a:r>
            <a:endParaRPr lang="en-US" sz="1750"/>
          </a:p>
          <a:p>
            <a:pPr algn="l">
              <a:spcAft>
                <a:spcPts val="500"/>
              </a:spcAft>
              <a:buNone/>
            </a:pPr>
            <a:r>
              <a:rPr lang="en-US" sz="1200" b="0" typeface="Aptos">
                <a:solidFill>
                  <a:srgbClr val="60706A"/>
                </a:solidFill>
              </a:rPr>
              <a:t>Local rules respond when Ollama or OpenAI is unavailable.</a:t>
            </a:r>
            <a:endParaRPr lang="en-US" sz="1200"/>
          </a:p>
        </p:txBody>
      </p:sp>
      <p:sp>
        <p:nvSpPr>
          <p:cNvPr id="12" name="Improvement 2"/>
          <p:cNvSpPr/>
          <p:nvPr/>
        </p:nvSpPr>
        <p:spPr>
          <a:xfrm>
            <a:off x="780000" y="3810000"/>
            <a:ext cx="4930000" cy="1730000"/>
          </a:xfrm>
          <a:prstGeom prst="roundRect">
            <a:avLst/>
          </a:prstGeom>
          <a:solidFill>
            <a:srgbClr val="EAF1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750" b="1" typeface="Aptos">
                <a:solidFill>
                  <a:srgbClr val="10231B"/>
                </a:solidFill>
              </a:rPr>
              <a:t>Substitutes</a:t>
            </a:r>
            <a:endParaRPr lang="en-US" sz="1750"/>
          </a:p>
          <a:p>
            <a:pPr algn="l">
              <a:spcAft>
                <a:spcPts val="500"/>
              </a:spcAft>
              <a:buNone/>
            </a:pPr>
            <a:r>
              <a:rPr lang="en-US" sz="1200" b="0" typeface="Aptos">
                <a:solidFill>
                  <a:srgbClr val="60706A"/>
                </a:solidFill>
              </a:rPr>
              <a:t>Rank alternatives by calories, macros and category distance.</a:t>
            </a:r>
            <a:endParaRPr lang="en-US" sz="1200"/>
          </a:p>
        </p:txBody>
      </p:sp>
      <p:sp>
        <p:nvSpPr>
          <p:cNvPr id="13" name="Improvement 3"/>
          <p:cNvSpPr/>
          <p:nvPr/>
        </p:nvSpPr>
        <p:spPr>
          <a:xfrm>
            <a:off x="6350000" y="3810000"/>
            <a:ext cx="4930000" cy="1730000"/>
          </a:xfrm>
          <a:prstGeom prst="roundRect">
            <a:avLst/>
          </a:prstGeom>
          <a:solidFill>
            <a:srgbClr val="FFF4D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l">
              <a:spcAft>
                <a:spcPts val="500"/>
              </a:spcAft>
              <a:buNone/>
            </a:pPr>
            <a:r>
              <a:rPr lang="en-US" sz="1750" b="1" typeface="Aptos">
                <a:solidFill>
                  <a:srgbClr val="10231B"/>
                </a:solidFill>
              </a:rPr>
              <a:t>Safety</a:t>
            </a:r>
            <a:endParaRPr lang="en-US" sz="1750"/>
          </a:p>
          <a:p>
            <a:pPr algn="l">
              <a:spcAft>
                <a:spcPts val="500"/>
              </a:spcAft>
              <a:buNone/>
            </a:pPr>
            <a:r>
              <a:rPr lang="en-US" sz="1200" b="0" typeface="Aptos">
                <a:solidFill>
                  <a:srgbClr val="60706A"/>
                </a:solidFill>
              </a:rPr>
              <a:t>Risk and photo features explain limits instead of overclaiming.</a:t>
            </a:r>
            <a:endParaRPr lang="en-US" sz="1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RESULTS AND DEMO FLOW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The demo proves the main AI workflow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10</a:t>
            </a:r>
            <a:endParaRPr lang="en-US" sz="850"/>
          </a:p>
        </p:txBody>
      </p:sp>
      <p:sp>
        <p:nvSpPr>
          <p:cNvPr id="10" name="Screen 0"/>
          <p:cNvSpPr/>
          <p:nvPr/>
        </p:nvSpPr>
        <p:spPr>
          <a:xfrm>
            <a:off x="62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13A66A"/>
                </a:solidFill>
              </a:rPr>
              <a:t>01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Register/login</a:t>
            </a:r>
            <a:endParaRPr lang="en-US" sz="1350"/>
          </a:p>
        </p:txBody>
      </p:sp>
      <p:sp>
        <p:nvSpPr>
          <p:cNvPr id="11" name="Screen bar 0"/>
          <p:cNvSpPr/>
          <p:nvPr/>
        </p:nvSpPr>
        <p:spPr>
          <a:xfrm>
            <a:off x="620000" y="1780000"/>
            <a:ext cx="1920000" cy="75000"/>
          </a:xfrm>
          <a:prstGeom prst="rect">
            <a:avLst/>
          </a:prstGeom>
          <a:solidFill>
            <a:srgbClr val="13A66A"/>
          </a:solidFill>
          <a:ln>
            <a:noFill/>
          </a:ln>
        </p:spPr>
      </p:sp>
      <p:sp>
        <p:nvSpPr>
          <p:cNvPr id="12" name="Screen 1"/>
          <p:cNvSpPr/>
          <p:nvPr/>
        </p:nvSpPr>
        <p:spPr>
          <a:xfrm>
            <a:off x="288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3D7BFA"/>
                </a:solidFill>
              </a:rPr>
              <a:t>02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Complete profile</a:t>
            </a:r>
            <a:endParaRPr lang="en-US" sz="1350"/>
          </a:p>
        </p:txBody>
      </p:sp>
      <p:sp>
        <p:nvSpPr>
          <p:cNvPr id="13" name="Screen bar 1"/>
          <p:cNvSpPr/>
          <p:nvPr/>
        </p:nvSpPr>
        <p:spPr>
          <a:xfrm>
            <a:off x="2880000" y="1780000"/>
            <a:ext cx="1920000" cy="75000"/>
          </a:xfrm>
          <a:prstGeom prst="rect">
            <a:avLst/>
          </a:prstGeom>
          <a:solidFill>
            <a:srgbClr val="3D7BFA"/>
          </a:solidFill>
          <a:ln>
            <a:noFill/>
          </a:ln>
        </p:spPr>
      </p:sp>
      <p:sp>
        <p:nvSpPr>
          <p:cNvPr id="14" name="Screen 2"/>
          <p:cNvSpPr/>
          <p:nvPr/>
        </p:nvSpPr>
        <p:spPr>
          <a:xfrm>
            <a:off x="514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F4A629"/>
                </a:solidFill>
              </a:rPr>
              <a:t>03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Add milk allergy</a:t>
            </a:r>
            <a:endParaRPr lang="en-US" sz="1350"/>
          </a:p>
        </p:txBody>
      </p:sp>
      <p:sp>
        <p:nvSpPr>
          <p:cNvPr id="15" name="Screen bar 2"/>
          <p:cNvSpPr/>
          <p:nvPr/>
        </p:nvSpPr>
        <p:spPr>
          <a:xfrm>
            <a:off x="5140000" y="1780000"/>
            <a:ext cx="1920000" cy="75000"/>
          </a:xfrm>
          <a:prstGeom prst="rect">
            <a:avLst/>
          </a:prstGeom>
          <a:solidFill>
            <a:srgbClr val="F4A629"/>
          </a:solidFill>
          <a:ln>
            <a:noFill/>
          </a:ln>
        </p:spPr>
      </p:sp>
      <p:sp>
        <p:nvSpPr>
          <p:cNvPr id="16" name="Screen 3"/>
          <p:cNvSpPr/>
          <p:nvPr/>
        </p:nvSpPr>
        <p:spPr>
          <a:xfrm>
            <a:off x="740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7867E8"/>
                </a:solidFill>
              </a:rPr>
              <a:t>04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Generate daily plan</a:t>
            </a:r>
            <a:endParaRPr lang="en-US" sz="1350"/>
          </a:p>
        </p:txBody>
      </p:sp>
      <p:sp>
        <p:nvSpPr>
          <p:cNvPr id="17" name="Screen bar 3"/>
          <p:cNvSpPr/>
          <p:nvPr/>
        </p:nvSpPr>
        <p:spPr>
          <a:xfrm>
            <a:off x="7400000" y="1780000"/>
            <a:ext cx="1920000" cy="75000"/>
          </a:xfrm>
          <a:prstGeom prst="rect">
            <a:avLst/>
          </a:prstGeom>
          <a:solidFill>
            <a:srgbClr val="7867E8"/>
          </a:solidFill>
          <a:ln>
            <a:noFill/>
          </a:ln>
        </p:spPr>
      </p:sp>
      <p:sp>
        <p:nvSpPr>
          <p:cNvPr id="18" name="Screen 4"/>
          <p:cNvSpPr/>
          <p:nvPr/>
        </p:nvSpPr>
        <p:spPr>
          <a:xfrm>
            <a:off x="9660000" y="17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EE6B62"/>
                </a:solidFill>
              </a:rPr>
              <a:t>05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Check dairy exclusion</a:t>
            </a:r>
            <a:endParaRPr lang="en-US" sz="1350"/>
          </a:p>
        </p:txBody>
      </p:sp>
      <p:sp>
        <p:nvSpPr>
          <p:cNvPr id="19" name="Screen bar 4"/>
          <p:cNvSpPr/>
          <p:nvPr/>
        </p:nvSpPr>
        <p:spPr>
          <a:xfrm>
            <a:off x="9660000" y="1780000"/>
            <a:ext cx="1920000" cy="75000"/>
          </a:xfrm>
          <a:prstGeom prst="rect">
            <a:avLst/>
          </a:prstGeom>
          <a:solidFill>
            <a:srgbClr val="EE6B62"/>
          </a:solidFill>
          <a:ln>
            <a:noFill/>
          </a:ln>
        </p:spPr>
      </p:sp>
      <p:sp>
        <p:nvSpPr>
          <p:cNvPr id="20" name="Screen 5"/>
          <p:cNvSpPr/>
          <p:nvPr/>
        </p:nvSpPr>
        <p:spPr>
          <a:xfrm>
            <a:off x="62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13A66A"/>
                </a:solidFill>
              </a:rPr>
              <a:t>06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Generate weekly plan</a:t>
            </a:r>
            <a:endParaRPr lang="en-US" sz="1350"/>
          </a:p>
        </p:txBody>
      </p:sp>
      <p:sp>
        <p:nvSpPr>
          <p:cNvPr id="21" name="Screen bar 5"/>
          <p:cNvSpPr/>
          <p:nvPr/>
        </p:nvSpPr>
        <p:spPr>
          <a:xfrm>
            <a:off x="620000" y="3680000"/>
            <a:ext cx="1920000" cy="75000"/>
          </a:xfrm>
          <a:prstGeom prst="rect">
            <a:avLst/>
          </a:prstGeom>
          <a:solidFill>
            <a:srgbClr val="13A66A"/>
          </a:solidFill>
          <a:ln>
            <a:noFill/>
          </a:ln>
        </p:spPr>
      </p:sp>
      <p:sp>
        <p:nvSpPr>
          <p:cNvPr id="22" name="Screen 6"/>
          <p:cNvSpPr/>
          <p:nvPr/>
        </p:nvSpPr>
        <p:spPr>
          <a:xfrm>
            <a:off x="288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3D7BFA"/>
                </a:solidFill>
              </a:rPr>
              <a:t>07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Export groceries</a:t>
            </a:r>
            <a:endParaRPr lang="en-US" sz="1350"/>
          </a:p>
        </p:txBody>
      </p:sp>
      <p:sp>
        <p:nvSpPr>
          <p:cNvPr id="23" name="Screen bar 6"/>
          <p:cNvSpPr/>
          <p:nvPr/>
        </p:nvSpPr>
        <p:spPr>
          <a:xfrm>
            <a:off x="2880000" y="3680000"/>
            <a:ext cx="1920000" cy="75000"/>
          </a:xfrm>
          <a:prstGeom prst="rect">
            <a:avLst/>
          </a:prstGeom>
          <a:solidFill>
            <a:srgbClr val="3D7BFA"/>
          </a:solidFill>
          <a:ln>
            <a:noFill/>
          </a:ln>
        </p:spPr>
      </p:sp>
      <p:sp>
        <p:nvSpPr>
          <p:cNvPr id="24" name="Screen 7"/>
          <p:cNvSpPr/>
          <p:nvPr/>
        </p:nvSpPr>
        <p:spPr>
          <a:xfrm>
            <a:off x="5140000" y="3680000"/>
            <a:ext cx="1920000" cy="1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E4D7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F4A629"/>
                </a:solidFill>
              </a:rPr>
              <a:t>08</a:t>
            </a:r>
            <a:endParaRPr lang="en-US" sz="1050"/>
          </a:p>
          <a:p>
            <a:pPr algn="ctr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Log food/water/weight</a:t>
            </a:r>
            <a:endParaRPr lang="en-US" sz="1350"/>
          </a:p>
        </p:txBody>
      </p:sp>
      <p:sp>
        <p:nvSpPr>
          <p:cNvPr id="25" name="Screen bar 7"/>
          <p:cNvSpPr/>
          <p:nvPr/>
        </p:nvSpPr>
        <p:spPr>
          <a:xfrm>
            <a:off x="5140000" y="3680000"/>
            <a:ext cx="1920000" cy="75000"/>
          </a:xfrm>
          <a:prstGeom prst="rect">
            <a:avLst/>
          </a:prstGeom>
          <a:solidFill>
            <a:srgbClr val="F4A629"/>
          </a:solid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087A4D"/>
                </a:solidFill>
              </a:rPr>
              <a:t>CHALLENGES AND LESSONS LEARNED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10231B"/>
                </a:solidFill>
              </a:rPr>
              <a:t>Practical AI systems need reliability and honesty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5" name="Line"/>
          <p:cNvSpPr/>
          <p:nvPr/>
        </p:nvSpPr>
        <p:spPr>
          <a:xfrm>
            <a:off x="610000" y="6470000"/>
            <a:ext cx="10550000" cy="0"/>
          </a:xfrm>
          <a:prstGeom prst="line">
            <a:avLst/>
          </a:prstGeom>
          <a:ln w="10000">
            <a:solidFill>
              <a:srgbClr val="D9EAE1"/>
            </a:solidFill>
          </a:ln>
        </p:spPr>
      </p:sp>
      <p:sp>
        <p:nvSpPr>
          <p:cNvPr id="6" name="Footer"/>
          <p:cNvSpPr txBox="1"/>
          <p:nvPr/>
        </p:nvSpPr>
        <p:spPr>
          <a:xfrm>
            <a:off x="610000" y="6500000"/>
            <a:ext cx="850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850" b="0" typeface="Aptos">
                <a:solidFill>
                  <a:srgbClr val="60706A"/>
                </a:solidFill>
              </a:rPr>
              <a:t>NutriAI  •  AI Nutrition and Meal Planner</a:t>
            </a:r>
            <a:endParaRPr lang="en-US" sz="850"/>
          </a:p>
        </p:txBody>
      </p:sp>
      <p:sp>
        <p:nvSpPr>
          <p:cNvPr id="7" name="Page"/>
          <p:cNvSpPr txBox="1"/>
          <p:nvPr/>
        </p:nvSpPr>
        <p:spPr>
          <a:xfrm>
            <a:off x="11100000" y="6500000"/>
            <a:ext cx="450000" cy="22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>
              <a:spcAft>
                <a:spcPts val="500"/>
              </a:spcAft>
              <a:buNone/>
            </a:pPr>
            <a:r>
              <a:rPr lang="en-US" sz="850" b="1" typeface="Aptos">
                <a:solidFill>
                  <a:srgbClr val="13A66A"/>
                </a:solidFill>
              </a:rPr>
              <a:t>11</a:t>
            </a:r>
            <a:endParaRPr lang="en-US" sz="850"/>
          </a:p>
        </p:txBody>
      </p:sp>
      <p:sp>
        <p:nvSpPr>
          <p:cNvPr id="10" name="Bullet no 0"/>
          <p:cNvSpPr/>
          <p:nvPr/>
        </p:nvSpPr>
        <p:spPr>
          <a:xfrm>
            <a:off x="740000" y="1740000"/>
            <a:ext cx="520000" cy="52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200" b="1" typeface="Aptos">
                <a:solidFill>
                  <a:srgbClr val="FFFFFF"/>
                </a:solidFill>
              </a:rPr>
              <a:t>1</a:t>
            </a:r>
            <a:endParaRPr lang="en-US" sz="1200"/>
          </a:p>
        </p:txBody>
      </p:sp>
      <p:sp>
        <p:nvSpPr>
          <p:cNvPr id="11" name="Bullet 0"/>
          <p:cNvSpPr txBox="1"/>
          <p:nvPr/>
        </p:nvSpPr>
        <p:spPr>
          <a:xfrm>
            <a:off x="1500000" y="1720000"/>
            <a:ext cx="43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Apply allergy filtering before scoring recommendations</a:t>
            </a:r>
            <a:endParaRPr lang="en-US" sz="1350"/>
          </a:p>
        </p:txBody>
      </p:sp>
      <p:sp>
        <p:nvSpPr>
          <p:cNvPr id="12" name="Bullet no 1"/>
          <p:cNvSpPr/>
          <p:nvPr/>
        </p:nvSpPr>
        <p:spPr>
          <a:xfrm>
            <a:off x="740000" y="2990000"/>
            <a:ext cx="520000" cy="52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200" b="1" typeface="Aptos">
                <a:solidFill>
                  <a:srgbClr val="FFFFFF"/>
                </a:solidFill>
              </a:rPr>
              <a:t>2</a:t>
            </a:r>
            <a:endParaRPr lang="en-US" sz="1200"/>
          </a:p>
        </p:txBody>
      </p:sp>
      <p:sp>
        <p:nvSpPr>
          <p:cNvPr id="13" name="Bullet 1"/>
          <p:cNvSpPr txBox="1"/>
          <p:nvPr/>
        </p:nvSpPr>
        <p:spPr>
          <a:xfrm>
            <a:off x="1500000" y="2970000"/>
            <a:ext cx="43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Keep local fallback logic for AI provider failures</a:t>
            </a:r>
            <a:endParaRPr lang="en-US" sz="1350"/>
          </a:p>
        </p:txBody>
      </p:sp>
      <p:sp>
        <p:nvSpPr>
          <p:cNvPr id="14" name="Bullet no 2"/>
          <p:cNvSpPr/>
          <p:nvPr/>
        </p:nvSpPr>
        <p:spPr>
          <a:xfrm>
            <a:off x="740000" y="4240000"/>
            <a:ext cx="520000" cy="52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200" b="1" typeface="Aptos">
                <a:solidFill>
                  <a:srgbClr val="FFFFFF"/>
                </a:solidFill>
              </a:rPr>
              <a:t>3</a:t>
            </a:r>
            <a:endParaRPr lang="en-US" sz="1200"/>
          </a:p>
        </p:txBody>
      </p:sp>
      <p:sp>
        <p:nvSpPr>
          <p:cNvPr id="15" name="Bullet 2"/>
          <p:cNvSpPr txBox="1"/>
          <p:nvPr/>
        </p:nvSpPr>
        <p:spPr>
          <a:xfrm>
            <a:off x="1500000" y="4220000"/>
            <a:ext cx="43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Avoid claiming real vision recognition without a trained model</a:t>
            </a:r>
            <a:endParaRPr lang="en-US" sz="1350"/>
          </a:p>
        </p:txBody>
      </p:sp>
      <p:sp>
        <p:nvSpPr>
          <p:cNvPr id="16" name="Bullet no 3"/>
          <p:cNvSpPr/>
          <p:nvPr/>
        </p:nvSpPr>
        <p:spPr>
          <a:xfrm>
            <a:off x="6390000" y="1740000"/>
            <a:ext cx="520000" cy="520000"/>
          </a:xfrm>
          <a:prstGeom prst="roundRect">
            <a:avLst/>
          </a:prstGeom>
          <a:solidFill>
            <a:srgbClr val="EE6B62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200" b="1" typeface="Aptos">
                <a:solidFill>
                  <a:srgbClr val="FFFFFF"/>
                </a:solidFill>
              </a:rPr>
              <a:t>4</a:t>
            </a:r>
            <a:endParaRPr lang="en-US" sz="1200"/>
          </a:p>
        </p:txBody>
      </p:sp>
      <p:sp>
        <p:nvSpPr>
          <p:cNvPr id="17" name="Bullet 3"/>
          <p:cNvSpPr txBox="1"/>
          <p:nvPr/>
        </p:nvSpPr>
        <p:spPr>
          <a:xfrm>
            <a:off x="7150000" y="1720000"/>
            <a:ext cx="43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Document Docker and environment setup clearly</a:t>
            </a:r>
            <a:endParaRPr lang="en-US" sz="1350"/>
          </a:p>
        </p:txBody>
      </p:sp>
      <p:sp>
        <p:nvSpPr>
          <p:cNvPr id="18" name="Bullet no 4"/>
          <p:cNvSpPr/>
          <p:nvPr/>
        </p:nvSpPr>
        <p:spPr>
          <a:xfrm>
            <a:off x="6390000" y="2990000"/>
            <a:ext cx="520000" cy="520000"/>
          </a:xfrm>
          <a:prstGeom prst="roundRect">
            <a:avLst/>
          </a:prstGeom>
          <a:solidFill>
            <a:srgbClr val="EE6B62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200" b="1" typeface="Aptos">
                <a:solidFill>
                  <a:srgbClr val="FFFFFF"/>
                </a:solidFill>
              </a:rPr>
              <a:t>5</a:t>
            </a:r>
            <a:endParaRPr lang="en-US" sz="1200"/>
          </a:p>
        </p:txBody>
      </p:sp>
      <p:sp>
        <p:nvSpPr>
          <p:cNvPr id="19" name="Bullet 4"/>
          <p:cNvSpPr txBox="1"/>
          <p:nvPr/>
        </p:nvSpPr>
        <p:spPr>
          <a:xfrm>
            <a:off x="7150000" y="2970000"/>
            <a:ext cx="43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Test end-to-end flows across profile, foods, plans and groceries</a:t>
            </a:r>
            <a:endParaRPr lang="en-US" sz="1350"/>
          </a:p>
        </p:txBody>
      </p:sp>
      <p:sp>
        <p:nvSpPr>
          <p:cNvPr id="20" name="Bullet no 5"/>
          <p:cNvSpPr/>
          <p:nvPr/>
        </p:nvSpPr>
        <p:spPr>
          <a:xfrm>
            <a:off x="6390000" y="4240000"/>
            <a:ext cx="520000" cy="520000"/>
          </a:xfrm>
          <a:prstGeom prst="roundRect">
            <a:avLst/>
          </a:prstGeom>
          <a:solidFill>
            <a:srgbClr val="EE6B62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1200" b="1" typeface="Aptos">
                <a:solidFill>
                  <a:srgbClr val="FFFFFF"/>
                </a:solidFill>
              </a:rPr>
              <a:t>6</a:t>
            </a:r>
            <a:endParaRPr lang="en-US" sz="1200"/>
          </a:p>
        </p:txBody>
      </p:sp>
      <p:sp>
        <p:nvSpPr>
          <p:cNvPr id="21" name="Bullet 5"/>
          <p:cNvSpPr txBox="1"/>
          <p:nvPr/>
        </p:nvSpPr>
        <p:spPr>
          <a:xfrm>
            <a:off x="7150000" y="4220000"/>
            <a:ext cx="43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350" b="1" typeface="Aptos">
                <a:solidFill>
                  <a:srgbClr val="10231B"/>
                </a:solidFill>
              </a:rPr>
              <a:t>Use explainable decisions for safety-sensitive nutrition features</a:t>
            </a:r>
            <a:endParaRPr lang="en-US" sz="13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F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3F31"/>
          </a:solidFill>
          <a:ln>
            <a:noFill/>
          </a:ln>
        </p:spPr>
      </p:sp>
      <p:sp>
        <p:nvSpPr>
          <p:cNvPr id="2" name="Section"/>
          <p:cNvSpPr txBox="1"/>
          <p:nvPr/>
        </p:nvSpPr>
        <p:spPr>
          <a:xfrm>
            <a:off x="610000" y="310000"/>
            <a:ext cx="3000000" cy="28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1050" b="1" typeface="Aptos">
                <a:solidFill>
                  <a:srgbClr val="B9D8C9"/>
                </a:solidFill>
              </a:rPr>
              <a:t>CONCLUSION</a:t>
            </a:r>
            <a:endParaRPr lang="en-US" sz="1050"/>
          </a:p>
        </p:txBody>
      </p:sp>
      <p:sp>
        <p:nvSpPr>
          <p:cNvPr id="3" name="Title"/>
          <p:cNvSpPr txBox="1"/>
          <p:nvPr/>
        </p:nvSpPr>
        <p:spPr>
          <a:xfrm>
            <a:off x="610000" y="660000"/>
            <a:ext cx="105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>
              <a:spcAft>
                <a:spcPts val="500"/>
              </a:spcAft>
              <a:buNone/>
            </a:pPr>
            <a:r>
              <a:rPr lang="en-US" sz="2850" b="1" typeface="Aptos">
                <a:solidFill>
                  <a:srgbClr val="FFFFFF"/>
                </a:solidFill>
              </a:rPr>
              <a:t>NutriAI turns personal data into practical food decisions</a:t>
            </a:r>
            <a:endParaRPr lang="en-US" sz="2850"/>
          </a:p>
        </p:txBody>
      </p:sp>
      <p:sp>
        <p:nvSpPr>
          <p:cNvPr id="4" name="Brand mark"/>
          <p:cNvSpPr/>
          <p:nvPr/>
        </p:nvSpPr>
        <p:spPr>
          <a:xfrm>
            <a:off x="11200000" y="370000"/>
            <a:ext cx="360000" cy="360000"/>
          </a:xfrm>
          <a:prstGeom prst="roundRect">
            <a:avLst/>
          </a:prstGeom>
          <a:solidFill>
            <a:srgbClr val="13A66A"/>
          </a:solidFill>
          <a:ln>
            <a:noFill/>
          </a:ln>
        </p:spPr>
        <p:txBody>
          <a:bodyPr wrap="square" anchor="ctr" lIns="0" tIns="0" rIns="0" bIns="0"/>
          <a:lstStyle/>
          <a:p>
            <a:pPr algn="ctr">
              <a:spcAft>
                <a:spcPts val="0"/>
              </a:spcAft>
              <a:buNone/>
            </a:pPr>
            <a:r>
              <a:rPr lang="en-US" sz="1650" b="1" typeface="Aptos">
                <a:solidFill>
                  <a:srgbClr val="FFFFFF"/>
                </a:solidFill>
              </a:rPr>
              <a:t>N</a:t>
            </a:r>
            <a:endParaRPr lang="en-US" sz="1650"/>
          </a:p>
        </p:txBody>
      </p:sp>
      <p:sp>
        <p:nvSpPr>
          <p:cNvPr id="10" name="Statement"/>
          <p:cNvSpPr txBox="1"/>
          <p:nvPr/>
        </p:nvSpPr>
        <p:spPr>
          <a:xfrm>
            <a:off x="1600000" y="1660000"/>
            <a:ext cx="90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2100" b="0" typeface="Aptos">
                <a:solidFill>
                  <a:srgbClr val="CFEBDD"/>
                </a:solidFill>
              </a:rPr>
              <a:t>One connected experience for nutrition planning, allergy awareness and AI-assisted guidance.</a:t>
            </a:r>
            <a:endParaRPr lang="en-US" sz="2100"/>
          </a:p>
        </p:txBody>
      </p:sp>
      <p:sp>
        <p:nvSpPr>
          <p:cNvPr id="11" name="Closing 0"/>
          <p:cNvSpPr/>
          <p:nvPr/>
        </p:nvSpPr>
        <p:spPr>
          <a:xfrm>
            <a:off x="780000" y="3650000"/>
            <a:ext cx="1900000" cy="900000"/>
          </a:xfrm>
          <a:prstGeom prst="roundRect">
            <a:avLst/>
          </a:prstGeom>
          <a:solidFill>
            <a:srgbClr val="0B513E"/>
          </a:solidFill>
          <a:ln w="12000">
            <a:solidFill>
              <a:srgbClr val="23795B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400" b="1" typeface="Aptos">
                <a:solidFill>
                  <a:srgbClr val="FFFFFF"/>
                </a:solidFill>
              </a:rPr>
              <a:t>Personalize</a:t>
            </a:r>
            <a:endParaRPr lang="en-US" sz="1400"/>
          </a:p>
        </p:txBody>
      </p:sp>
      <p:sp>
        <p:nvSpPr>
          <p:cNvPr id="12" name="Closing 1"/>
          <p:cNvSpPr/>
          <p:nvPr/>
        </p:nvSpPr>
        <p:spPr>
          <a:xfrm>
            <a:off x="3030000" y="3650000"/>
            <a:ext cx="1900000" cy="900000"/>
          </a:xfrm>
          <a:prstGeom prst="roundRect">
            <a:avLst/>
          </a:prstGeom>
          <a:solidFill>
            <a:srgbClr val="0B513E"/>
          </a:solidFill>
          <a:ln w="12000">
            <a:solidFill>
              <a:srgbClr val="23795B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400" b="1" typeface="Aptos">
                <a:solidFill>
                  <a:srgbClr val="FFFFFF"/>
                </a:solidFill>
              </a:rPr>
              <a:t>Plan</a:t>
            </a:r>
            <a:endParaRPr lang="en-US" sz="1400"/>
          </a:p>
        </p:txBody>
      </p:sp>
      <p:sp>
        <p:nvSpPr>
          <p:cNvPr id="13" name="Closing 2"/>
          <p:cNvSpPr/>
          <p:nvPr/>
        </p:nvSpPr>
        <p:spPr>
          <a:xfrm>
            <a:off x="5280000" y="3650000"/>
            <a:ext cx="1900000" cy="900000"/>
          </a:xfrm>
          <a:prstGeom prst="roundRect">
            <a:avLst/>
          </a:prstGeom>
          <a:solidFill>
            <a:srgbClr val="0B513E"/>
          </a:solidFill>
          <a:ln w="12000">
            <a:solidFill>
              <a:srgbClr val="23795B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400" b="1" typeface="Aptos">
                <a:solidFill>
                  <a:srgbClr val="FFFFFF"/>
                </a:solidFill>
              </a:rPr>
              <a:t>Shop</a:t>
            </a:r>
            <a:endParaRPr lang="en-US" sz="1400"/>
          </a:p>
        </p:txBody>
      </p:sp>
      <p:sp>
        <p:nvSpPr>
          <p:cNvPr id="14" name="Closing 3"/>
          <p:cNvSpPr/>
          <p:nvPr/>
        </p:nvSpPr>
        <p:spPr>
          <a:xfrm>
            <a:off x="7530000" y="3650000"/>
            <a:ext cx="1900000" cy="900000"/>
          </a:xfrm>
          <a:prstGeom prst="roundRect">
            <a:avLst/>
          </a:prstGeom>
          <a:solidFill>
            <a:srgbClr val="0B513E"/>
          </a:solidFill>
          <a:ln w="12000">
            <a:solidFill>
              <a:srgbClr val="23795B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400" b="1" typeface="Aptos">
                <a:solidFill>
                  <a:srgbClr val="FFFFFF"/>
                </a:solidFill>
              </a:rPr>
              <a:t>Track</a:t>
            </a:r>
            <a:endParaRPr lang="en-US" sz="1400"/>
          </a:p>
        </p:txBody>
      </p:sp>
      <p:sp>
        <p:nvSpPr>
          <p:cNvPr id="15" name="Closing 4"/>
          <p:cNvSpPr/>
          <p:nvPr/>
        </p:nvSpPr>
        <p:spPr>
          <a:xfrm>
            <a:off x="9780000" y="3650000"/>
            <a:ext cx="1900000" cy="900000"/>
          </a:xfrm>
          <a:prstGeom prst="roundRect">
            <a:avLst/>
          </a:prstGeom>
          <a:solidFill>
            <a:srgbClr val="0B513E"/>
          </a:solidFill>
          <a:ln w="12000">
            <a:solidFill>
              <a:srgbClr val="23795B"/>
            </a:solidFill>
          </a:ln>
        </p:spPr>
        <p:txBody>
          <a:bodyPr wrap="square" anchor="ctr" lIns="180000" tIns="150000" rIns="180000" bIns="150000"/>
          <a:lstStyle/>
          <a:p>
            <a:pPr algn="ctr">
              <a:spcAft>
                <a:spcPts val="500"/>
              </a:spcAft>
              <a:buNone/>
            </a:pPr>
            <a:r>
              <a:rPr lang="en-US" sz="1400" b="1" typeface="Aptos">
                <a:solidFill>
                  <a:srgbClr val="FFFFFF"/>
                </a:solidFill>
              </a:rPr>
              <a:t>Improve</a:t>
            </a:r>
            <a:endParaRPr lang="en-US" sz="1400"/>
          </a:p>
        </p:txBody>
      </p:sp>
      <p:sp>
        <p:nvSpPr>
          <p:cNvPr id="20" name="Thanks"/>
          <p:cNvSpPr txBox="1"/>
          <p:nvPr/>
        </p:nvSpPr>
        <p:spPr>
          <a:xfrm>
            <a:off x="3500000" y="5350000"/>
            <a:ext cx="5200000" cy="700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>
              <a:spcAft>
                <a:spcPts val="500"/>
              </a:spcAft>
              <a:buNone/>
            </a:pPr>
            <a:r>
              <a:rPr lang="en-US" sz="2500" b="1" typeface="Aptos">
                <a:solidFill>
                  <a:srgbClr val="69D6A8"/>
                </a:solidFill>
              </a:rPr>
              <a:t>Thank you</a:t>
            </a:r>
            <a:endParaRPr lang="en-US" sz="2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utriAI Theme">
  <a:themeElements>
    <a:clrScheme name="NutriAI">
      <a:dk1>
        <a:srgbClr val="10231B"/>
      </a:dk1>
      <a:lt1>
        <a:srgbClr val="FFFFFF"/>
      </a:lt1>
      <a:dk2>
        <a:srgbClr val="087A4D"/>
      </a:dk2>
      <a:lt2>
        <a:srgbClr val="EAF8F1"/>
      </a:lt2>
      <a:accent1>
        <a:srgbClr val="13A66A"/>
      </a:accent1>
      <a:accent2>
        <a:srgbClr val="3D7BFA"/>
      </a:accent2>
      <a:accent3>
        <a:srgbClr val="F4A629"/>
      </a:accent3>
      <a:accent4>
        <a:srgbClr val="EE6B62"/>
      </a:accent4>
      <a:accent5>
        <a:srgbClr val="7867E8"/>
      </a:accent5>
      <a:accent6>
        <a:srgbClr val="13A89E"/>
      </a:accent6>
      <a:hlink>
        <a:srgbClr val="2563EB"/>
      </a:hlink>
      <a:folHlink>
        <a:srgbClr val="7C3AED"/>
      </a:folHlink>
    </a:clrScheme>
    <a:fontScheme name="NutriAI Fonts">
      <a:majorFont>
        <a:latin typeface="Aptos Display"/>
      </a:majorFont>
      <a:minorFont>
        <a:latin typeface="Aptos"/>
      </a:minorFont>
    </a:fontScheme>
    <a:fmtScheme name="NutriAI Format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